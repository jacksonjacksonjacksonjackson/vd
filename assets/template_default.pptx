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4"/>
  </p:sldMasterIdLst>
  <p:notesMasterIdLst>
    <p:notesMasterId r:id="rId20"/>
  </p:notesMasterIdLst>
  <p:sldIdLst>
    <p:sldId id="256" r:id="rId5"/>
    <p:sldId id="257" r:id="rId6"/>
    <p:sldId id="274" r:id="rId7"/>
    <p:sldId id="294" r:id="rId8"/>
    <p:sldId id="315" r:id="rId9"/>
    <p:sldId id="280" r:id="rId10"/>
    <p:sldId id="312" r:id="rId11"/>
    <p:sldId id="293" r:id="rId12"/>
    <p:sldId id="292" r:id="rId13"/>
    <p:sldId id="314" r:id="rId14"/>
    <p:sldId id="313" r:id="rId15"/>
    <p:sldId id="285" r:id="rId16"/>
    <p:sldId id="310" r:id="rId17"/>
    <p:sldId id="320" r:id="rId18"/>
    <p:sldId id="31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D204015-BBAC-5FFD-A7C9-654D77CCA6EC}" name="Erin Chasen" initials="EC" userId="S::Erin.Chasen@optonyusa.com::6e5c2b00-5316-4d91-a7ca-0ed96558f98f" providerId="AD"/>
  <p188:author id="{4369912A-D667-76A3-ADB8-6F7ABCA8B36D}" name="Natalie Hanson" initials="NH" userId="S::Natalie.Hanson@optonyusa.com::1a148e70-1d3e-4585-88b6-a694ec4385b8" providerId="AD"/>
  <p188:author id="{2B56C12D-E1DA-7117-6E00-A7404FD35922}" name="Coleman Thompson" initials="CT" userId="S::Coleman.Thompson@optonyusa.com::8a655cd2-3d05-4e44-aae6-8d93a9ab1057" providerId="AD"/>
  <p188:author id="{EC524057-D312-096A-43FF-FF7FC0C12946}" name="Rachel Lore" initials="RL" userId="f1a46fabb19b1c78" providerId="Windows Live"/>
  <p188:author id="{9CD658B8-F29D-6233-7FFB-2A2A7C9EDDF7}" name="Jackson Flynn" initials="" userId="S::Jackson.Flynn@optonyusa.com::f67f2e11-3307-4476-8217-91618e3cad8d" providerId="AD"/>
  <p188:author id="{B9A412C8-5169-6036-5E2E-468BF931CA64}" name="Natalie Hanson" initials="NH" userId="S::natalie.hanson@optonyusa.com::1a148e70-1d3e-4585-88b6-a694ec4385b8" providerId="AD"/>
  <p188:author id="{F19FB1E3-53A6-F6C7-ECCC-1FA33CD9481D}" name="Rachel Lore" initials="RL" userId="S::Rachel.Lore@optonyusa.com::f18bd3f5-cd20-487c-9add-666b3f59c39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6666"/>
    <a:srgbClr val="30A2DE"/>
    <a:srgbClr val="1F868D"/>
    <a:srgbClr val="0077C8"/>
    <a:srgbClr val="FFFFFF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35" autoAdjust="0"/>
    <p:restoredTop sz="96327" autoAdjust="0"/>
  </p:normalViewPr>
  <p:slideViewPr>
    <p:cSldViewPr snapToGrid="0">
      <p:cViewPr varScale="1">
        <p:scale>
          <a:sx n="81" d="100"/>
          <a:sy n="81" d="100"/>
        </p:scale>
        <p:origin x="20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optonyusa.sharepoint.com/Fleet%20Electrification%20Models/3CE0423/Seaside/Seaside%20Mode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optonyusa.sharepoint.com/Fleet%20Electrification%20Models/3CE0423/Seaside/Seaside%20Model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optonyusa.sharepoint.com/Fleet%20Electrification%20Models/3CE0423/Sand%20City/Sand%20City%20Model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optonyusa.sharepoint.com/Fleet%20Electrification%20Models/3CE0423/Sand%20City/Sand%20City%20Model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4893411936867577E-2"/>
          <c:y val="3.4874973852317893E-2"/>
          <c:w val="0.90999024633469294"/>
          <c:h val="0.68196194327785553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'Year-over-year'!$F$123</c:f>
              <c:strCache>
                <c:ptCount val="1"/>
                <c:pt idx="0">
                  <c:v>Light Duty (Excluded from ACF Regulations)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'Year-over-year'!$H$1:$W$1</c:f>
              <c:numCache>
                <c:formatCode>0</c:formatCode>
                <c:ptCount val="1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  <c:pt idx="6">
                  <c:v>2031</c:v>
                </c:pt>
                <c:pt idx="7">
                  <c:v>2032</c:v>
                </c:pt>
                <c:pt idx="8">
                  <c:v>2033</c:v>
                </c:pt>
                <c:pt idx="9">
                  <c:v>2034</c:v>
                </c:pt>
                <c:pt idx="10">
                  <c:v>2035</c:v>
                </c:pt>
                <c:pt idx="11">
                  <c:v>2036</c:v>
                </c:pt>
                <c:pt idx="12">
                  <c:v>2037</c:v>
                </c:pt>
                <c:pt idx="13">
                  <c:v>2038</c:v>
                </c:pt>
                <c:pt idx="14">
                  <c:v>2039</c:v>
                </c:pt>
                <c:pt idx="15">
                  <c:v>2040</c:v>
                </c:pt>
              </c:numCache>
              <c:extLst/>
            </c:numRef>
          </c:cat>
          <c:val>
            <c:numRef>
              <c:f>'Year-over-year'!$H$123:$W$123</c:f>
              <c:numCache>
                <c:formatCode>0</c:formatCode>
                <c:ptCount val="16"/>
                <c:pt idx="0">
                  <c:v>3</c:v>
                </c:pt>
                <c:pt idx="1">
                  <c:v>3</c:v>
                </c:pt>
                <c:pt idx="2">
                  <c:v>0</c:v>
                </c:pt>
                <c:pt idx="3">
                  <c:v>2</c:v>
                </c:pt>
                <c:pt idx="4">
                  <c:v>4</c:v>
                </c:pt>
                <c:pt idx="5">
                  <c:v>3</c:v>
                </c:pt>
                <c:pt idx="6">
                  <c:v>4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1</c:v>
                </c:pt>
                <c:pt idx="11">
                  <c:v>5</c:v>
                </c:pt>
                <c:pt idx="12">
                  <c:v>4</c:v>
                </c:pt>
                <c:pt idx="13">
                  <c:v>3</c:v>
                </c:pt>
                <c:pt idx="14">
                  <c:v>3</c:v>
                </c:pt>
                <c:pt idx="15">
                  <c:v>0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24AA-4E7D-8969-3E2298279E71}"/>
            </c:ext>
          </c:extLst>
        </c:ser>
        <c:ser>
          <c:idx val="1"/>
          <c:order val="1"/>
          <c:tx>
            <c:strRef>
              <c:f>'Year-over-year'!$F$124</c:f>
              <c:strCache>
                <c:ptCount val="1"/>
                <c:pt idx="0">
                  <c:v>Medium or Heavy Duty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'Year-over-year'!$H$1:$W$1</c:f>
              <c:numCache>
                <c:formatCode>0</c:formatCode>
                <c:ptCount val="1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  <c:pt idx="6">
                  <c:v>2031</c:v>
                </c:pt>
                <c:pt idx="7">
                  <c:v>2032</c:v>
                </c:pt>
                <c:pt idx="8">
                  <c:v>2033</c:v>
                </c:pt>
                <c:pt idx="9">
                  <c:v>2034</c:v>
                </c:pt>
                <c:pt idx="10">
                  <c:v>2035</c:v>
                </c:pt>
                <c:pt idx="11">
                  <c:v>2036</c:v>
                </c:pt>
                <c:pt idx="12">
                  <c:v>2037</c:v>
                </c:pt>
                <c:pt idx="13">
                  <c:v>2038</c:v>
                </c:pt>
                <c:pt idx="14">
                  <c:v>2039</c:v>
                </c:pt>
                <c:pt idx="15">
                  <c:v>2040</c:v>
                </c:pt>
              </c:numCache>
              <c:extLst/>
            </c:numRef>
          </c:cat>
          <c:val>
            <c:numRef>
              <c:f>'Year-over-year'!$H$124:$W$124</c:f>
              <c:numCache>
                <c:formatCode>0</c:formatCode>
                <c:ptCount val="16"/>
                <c:pt idx="0">
                  <c:v>2</c:v>
                </c:pt>
                <c:pt idx="1">
                  <c:v>2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  <c:pt idx="6">
                  <c:v>3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4</c:v>
                </c:pt>
                <c:pt idx="11">
                  <c:v>3</c:v>
                </c:pt>
                <c:pt idx="12">
                  <c:v>2</c:v>
                </c:pt>
                <c:pt idx="13">
                  <c:v>3</c:v>
                </c:pt>
                <c:pt idx="14">
                  <c:v>2</c:v>
                </c:pt>
                <c:pt idx="15">
                  <c:v>1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24AA-4E7D-8969-3E2298279E71}"/>
            </c:ext>
          </c:extLst>
        </c:ser>
        <c:ser>
          <c:idx val="2"/>
          <c:order val="2"/>
          <c:tx>
            <c:strRef>
              <c:f>'Year-over-year'!$F$125</c:f>
              <c:strCache>
                <c:ptCount val="1"/>
                <c:pt idx="0">
                  <c:v>Medium or Heavy Duty Vehicles Potentially Exempted from ACF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'Year-over-year'!$H$1:$W$1</c:f>
              <c:numCache>
                <c:formatCode>0</c:formatCode>
                <c:ptCount val="1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  <c:pt idx="6">
                  <c:v>2031</c:v>
                </c:pt>
                <c:pt idx="7">
                  <c:v>2032</c:v>
                </c:pt>
                <c:pt idx="8">
                  <c:v>2033</c:v>
                </c:pt>
                <c:pt idx="9">
                  <c:v>2034</c:v>
                </c:pt>
                <c:pt idx="10">
                  <c:v>2035</c:v>
                </c:pt>
                <c:pt idx="11">
                  <c:v>2036</c:v>
                </c:pt>
                <c:pt idx="12">
                  <c:v>2037</c:v>
                </c:pt>
                <c:pt idx="13">
                  <c:v>2038</c:v>
                </c:pt>
                <c:pt idx="14">
                  <c:v>2039</c:v>
                </c:pt>
                <c:pt idx="15">
                  <c:v>2040</c:v>
                </c:pt>
              </c:numCache>
              <c:extLst/>
            </c:numRef>
          </c:cat>
          <c:val>
            <c:numRef>
              <c:f>'Year-over-year'!$H$125:$W$125</c:f>
              <c:numCache>
                <c:formatCode>0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24AA-4E7D-8969-3E2298279E71}"/>
            </c:ext>
          </c:extLst>
        </c:ser>
        <c:ser>
          <c:idx val="3"/>
          <c:order val="3"/>
          <c:tx>
            <c:strRef>
              <c:f>'Year-over-year'!$F$126</c:f>
              <c:strCache>
                <c:ptCount val="1"/>
                <c:pt idx="0">
                  <c:v>Emergency Vehicles (Excluded from ACF Regulations)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numRef>
              <c:f>'Year-over-year'!$H$1:$W$1</c:f>
              <c:numCache>
                <c:formatCode>0</c:formatCode>
                <c:ptCount val="1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  <c:pt idx="6">
                  <c:v>2031</c:v>
                </c:pt>
                <c:pt idx="7">
                  <c:v>2032</c:v>
                </c:pt>
                <c:pt idx="8">
                  <c:v>2033</c:v>
                </c:pt>
                <c:pt idx="9">
                  <c:v>2034</c:v>
                </c:pt>
                <c:pt idx="10">
                  <c:v>2035</c:v>
                </c:pt>
                <c:pt idx="11">
                  <c:v>2036</c:v>
                </c:pt>
                <c:pt idx="12">
                  <c:v>2037</c:v>
                </c:pt>
                <c:pt idx="13">
                  <c:v>2038</c:v>
                </c:pt>
                <c:pt idx="14">
                  <c:v>2039</c:v>
                </c:pt>
                <c:pt idx="15">
                  <c:v>2040</c:v>
                </c:pt>
              </c:numCache>
              <c:extLst/>
            </c:numRef>
          </c:cat>
          <c:val>
            <c:numRef>
              <c:f>'Year-over-year'!$H$126:$W$126</c:f>
              <c:numCache>
                <c:formatCode>0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2</c:v>
                </c:pt>
                <c:pt idx="8">
                  <c:v>2</c:v>
                </c:pt>
                <c:pt idx="9">
                  <c:v>1</c:v>
                </c:pt>
                <c:pt idx="10">
                  <c:v>3</c:v>
                </c:pt>
                <c:pt idx="11">
                  <c:v>1</c:v>
                </c:pt>
                <c:pt idx="12">
                  <c:v>2</c:v>
                </c:pt>
                <c:pt idx="13">
                  <c:v>0</c:v>
                </c:pt>
                <c:pt idx="14">
                  <c:v>2</c:v>
                </c:pt>
                <c:pt idx="15">
                  <c:v>8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3-24AA-4E7D-8969-3E2298279E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22067471"/>
        <c:axId val="1222054991"/>
        <c:extLst/>
      </c:barChart>
      <c:catAx>
        <c:axId val="1222067471"/>
        <c:scaling>
          <c:orientation val="minMax"/>
        </c:scaling>
        <c:delete val="0"/>
        <c:axPos val="b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2054991"/>
        <c:crosses val="autoZero"/>
        <c:auto val="1"/>
        <c:lblAlgn val="ctr"/>
        <c:lblOffset val="100"/>
        <c:noMultiLvlLbl val="0"/>
      </c:catAx>
      <c:valAx>
        <c:axId val="12220549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Count of Vehicles for Replacement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206747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layout>
        <c:manualLayout>
          <c:xMode val="edge"/>
          <c:yMode val="edge"/>
          <c:x val="0.15322635969708454"/>
          <c:y val="0.80030501159437406"/>
          <c:w val="0.69217306772142739"/>
          <c:h val="0.18550372503902035"/>
        </c:manualLayout>
      </c:layout>
      <c:overlay val="0"/>
      <c:spPr>
        <a:solidFill>
          <a:schemeClr val="bg1"/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100" b="1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9855152285302549E-2"/>
          <c:y val="3.1911814658373401E-2"/>
          <c:w val="0.91469457227510564"/>
          <c:h val="0.68039004138905712"/>
        </c:manualLayout>
      </c:layout>
      <c:lineChart>
        <c:grouping val="standard"/>
        <c:varyColors val="0"/>
        <c:ser>
          <c:idx val="0"/>
          <c:order val="0"/>
          <c:tx>
            <c:strRef>
              <c:f>'Year-over-year'!$F$92</c:f>
              <c:strCache>
                <c:ptCount val="1"/>
                <c:pt idx="0">
                  <c:v>Emissions - Medium and Heavy Duty Vehicles Only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'Year-over-year'!$H$1:$W$1</c:f>
              <c:numCache>
                <c:formatCode>0</c:formatCode>
                <c:ptCount val="1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  <c:pt idx="6">
                  <c:v>2031</c:v>
                </c:pt>
                <c:pt idx="7">
                  <c:v>2032</c:v>
                </c:pt>
                <c:pt idx="8">
                  <c:v>2033</c:v>
                </c:pt>
                <c:pt idx="9">
                  <c:v>2034</c:v>
                </c:pt>
                <c:pt idx="10">
                  <c:v>2035</c:v>
                </c:pt>
                <c:pt idx="11">
                  <c:v>2036</c:v>
                </c:pt>
                <c:pt idx="12">
                  <c:v>2037</c:v>
                </c:pt>
                <c:pt idx="13">
                  <c:v>2038</c:v>
                </c:pt>
                <c:pt idx="14">
                  <c:v>2039</c:v>
                </c:pt>
                <c:pt idx="15">
                  <c:v>2040</c:v>
                </c:pt>
              </c:numCache>
              <c:extLst/>
            </c:numRef>
          </c:cat>
          <c:val>
            <c:numRef>
              <c:f>'Year-over-year'!$H$92:$W$92</c:f>
              <c:numCache>
                <c:formatCode>0</c:formatCode>
                <c:ptCount val="16"/>
                <c:pt idx="0">
                  <c:v>316.37340437861576</c:v>
                </c:pt>
                <c:pt idx="1">
                  <c:v>308.68668227614245</c:v>
                </c:pt>
                <c:pt idx="2">
                  <c:v>303.42084616847563</c:v>
                </c:pt>
                <c:pt idx="3">
                  <c:v>297.55741005825331</c:v>
                </c:pt>
                <c:pt idx="4">
                  <c:v>294.80649446833962</c:v>
                </c:pt>
                <c:pt idx="5">
                  <c:v>287.30089657068305</c:v>
                </c:pt>
                <c:pt idx="6">
                  <c:v>261.86643399245128</c:v>
                </c:pt>
                <c:pt idx="7">
                  <c:v>240.14174027592196</c:v>
                </c:pt>
                <c:pt idx="8">
                  <c:v>226.05226136982316</c:v>
                </c:pt>
                <c:pt idx="9">
                  <c:v>216.06656418734499</c:v>
                </c:pt>
                <c:pt idx="10">
                  <c:v>213.00227939645441</c:v>
                </c:pt>
                <c:pt idx="11">
                  <c:v>209.80967532456393</c:v>
                </c:pt>
                <c:pt idx="12">
                  <c:v>208.58986932036814</c:v>
                </c:pt>
                <c:pt idx="13">
                  <c:v>197.33844650752701</c:v>
                </c:pt>
                <c:pt idx="14">
                  <c:v>193.06122599470649</c:v>
                </c:pt>
                <c:pt idx="15">
                  <c:v>191.87090015644219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0-6562-4CEA-9A80-3D0D09499277}"/>
            </c:ext>
          </c:extLst>
        </c:ser>
        <c:ser>
          <c:idx val="1"/>
          <c:order val="1"/>
          <c:tx>
            <c:strRef>
              <c:f>'Year-over-year'!$F$93</c:f>
              <c:strCache>
                <c:ptCount val="1"/>
                <c:pt idx="0">
                  <c:v>Emissions - Whole Fleet Electrification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'Year-over-year'!$H$1:$W$1</c:f>
              <c:numCache>
                <c:formatCode>0</c:formatCode>
                <c:ptCount val="1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  <c:pt idx="6">
                  <c:v>2031</c:v>
                </c:pt>
                <c:pt idx="7">
                  <c:v>2032</c:v>
                </c:pt>
                <c:pt idx="8">
                  <c:v>2033</c:v>
                </c:pt>
                <c:pt idx="9">
                  <c:v>2034</c:v>
                </c:pt>
                <c:pt idx="10">
                  <c:v>2035</c:v>
                </c:pt>
                <c:pt idx="11">
                  <c:v>2036</c:v>
                </c:pt>
                <c:pt idx="12">
                  <c:v>2037</c:v>
                </c:pt>
                <c:pt idx="13">
                  <c:v>2038</c:v>
                </c:pt>
                <c:pt idx="14">
                  <c:v>2039</c:v>
                </c:pt>
                <c:pt idx="15">
                  <c:v>2040</c:v>
                </c:pt>
              </c:numCache>
              <c:extLst/>
            </c:numRef>
          </c:cat>
          <c:val>
            <c:numRef>
              <c:f>'Year-over-year'!$H$93:$W$93</c:f>
              <c:numCache>
                <c:formatCode>0</c:formatCode>
                <c:ptCount val="16"/>
                <c:pt idx="0">
                  <c:v>309.88952337123419</c:v>
                </c:pt>
                <c:pt idx="1">
                  <c:v>292.62973710137999</c:v>
                </c:pt>
                <c:pt idx="2">
                  <c:v>287.36390099371317</c:v>
                </c:pt>
                <c:pt idx="3">
                  <c:v>276.07123808918328</c:v>
                </c:pt>
                <c:pt idx="4">
                  <c:v>266.09414124379418</c:v>
                </c:pt>
                <c:pt idx="5">
                  <c:v>250.84208818201159</c:v>
                </c:pt>
                <c:pt idx="6">
                  <c:v>219.5593244458766</c:v>
                </c:pt>
                <c:pt idx="7">
                  <c:v>185.98417105828503</c:v>
                </c:pt>
                <c:pt idx="8">
                  <c:v>156.81026158115526</c:v>
                </c:pt>
                <c:pt idx="9">
                  <c:v>138.82531502984838</c:v>
                </c:pt>
                <c:pt idx="10">
                  <c:v>116.55485963342161</c:v>
                </c:pt>
                <c:pt idx="11">
                  <c:v>105.51191021372699</c:v>
                </c:pt>
                <c:pt idx="12">
                  <c:v>97.208806378719459</c:v>
                </c:pt>
                <c:pt idx="13">
                  <c:v>83.417768558028342</c:v>
                </c:pt>
                <c:pt idx="14">
                  <c:v>63.279881729941245</c:v>
                </c:pt>
                <c:pt idx="15">
                  <c:v>0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1-6562-4CEA-9A80-3D0D09499277}"/>
            </c:ext>
          </c:extLst>
        </c:ser>
        <c:ser>
          <c:idx val="3"/>
          <c:order val="3"/>
          <c:tx>
            <c:strRef>
              <c:f>'Year-over-year'!$F$95</c:f>
              <c:strCache>
                <c:ptCount val="1"/>
                <c:pt idx="0">
                  <c:v>Emissions - Baseline</c:v>
                </c:pt>
              </c:strCache>
            </c:strRef>
          </c:tx>
          <c:spPr>
            <a:ln w="28575" cap="rnd">
              <a:solidFill>
                <a:schemeClr val="tx1"/>
              </a:solidFill>
              <a:prstDash val="dash"/>
              <a:round/>
            </a:ln>
            <a:effectLst/>
          </c:spPr>
          <c:marker>
            <c:symbol val="none"/>
          </c:marker>
          <c:cat>
            <c:numRef>
              <c:f>'Year-over-year'!$H$1:$W$1</c:f>
              <c:numCache>
                <c:formatCode>0</c:formatCode>
                <c:ptCount val="16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  <c:pt idx="6">
                  <c:v>2031</c:v>
                </c:pt>
                <c:pt idx="7">
                  <c:v>2032</c:v>
                </c:pt>
                <c:pt idx="8">
                  <c:v>2033</c:v>
                </c:pt>
                <c:pt idx="9">
                  <c:v>2034</c:v>
                </c:pt>
                <c:pt idx="10">
                  <c:v>2035</c:v>
                </c:pt>
                <c:pt idx="11">
                  <c:v>2036</c:v>
                </c:pt>
                <c:pt idx="12">
                  <c:v>2037</c:v>
                </c:pt>
                <c:pt idx="13">
                  <c:v>2038</c:v>
                </c:pt>
                <c:pt idx="14">
                  <c:v>2039</c:v>
                </c:pt>
                <c:pt idx="15">
                  <c:v>2040</c:v>
                </c:pt>
              </c:numCache>
              <c:extLst/>
            </c:numRef>
          </c:cat>
          <c:val>
            <c:numRef>
              <c:f>'Year-over-year'!$H$95:$W$95</c:f>
              <c:numCache>
                <c:formatCode>0</c:formatCode>
                <c:ptCount val="16"/>
                <c:pt idx="0">
                  <c:v>319.69100995625644</c:v>
                </c:pt>
                <c:pt idx="1">
                  <c:v>319.69100995625644</c:v>
                </c:pt>
                <c:pt idx="2">
                  <c:v>319.69100995625644</c:v>
                </c:pt>
                <c:pt idx="3">
                  <c:v>319.69100995625644</c:v>
                </c:pt>
                <c:pt idx="4">
                  <c:v>319.69100995625644</c:v>
                </c:pt>
                <c:pt idx="5">
                  <c:v>319.69100995625644</c:v>
                </c:pt>
                <c:pt idx="6">
                  <c:v>319.69100995625644</c:v>
                </c:pt>
                <c:pt idx="7">
                  <c:v>319.69100995625644</c:v>
                </c:pt>
                <c:pt idx="8">
                  <c:v>319.69100995625644</c:v>
                </c:pt>
                <c:pt idx="9">
                  <c:v>319.69100995625644</c:v>
                </c:pt>
                <c:pt idx="10">
                  <c:v>319.69100995625644</c:v>
                </c:pt>
                <c:pt idx="11">
                  <c:v>319.69100995625644</c:v>
                </c:pt>
                <c:pt idx="12">
                  <c:v>319.69100995625644</c:v>
                </c:pt>
                <c:pt idx="13">
                  <c:v>319.69100995625644</c:v>
                </c:pt>
                <c:pt idx="14">
                  <c:v>319.69100995625644</c:v>
                </c:pt>
                <c:pt idx="15">
                  <c:v>319.69100995625644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2-6562-4CEA-9A80-3D0D094992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69588431"/>
        <c:axId val="1670218223"/>
        <c:extLst>
          <c:ext xmlns:c15="http://schemas.microsoft.com/office/drawing/2012/chart" uri="{02D57815-91ED-43cb-92C2-25804820EDAC}">
            <c15:filteredLine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'Year-over-year'!$F$94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'Year-over-year'!$H$1:$W$1</c15:sqref>
                        </c15:formulaRef>
                      </c:ext>
                    </c:extLst>
                    <c:numCache>
                      <c:formatCode>0</c:formatCode>
                      <c:ptCount val="16"/>
                      <c:pt idx="0">
                        <c:v>2025</c:v>
                      </c:pt>
                      <c:pt idx="1">
                        <c:v>2026</c:v>
                      </c:pt>
                      <c:pt idx="2">
                        <c:v>2027</c:v>
                      </c:pt>
                      <c:pt idx="3">
                        <c:v>2028</c:v>
                      </c:pt>
                      <c:pt idx="4">
                        <c:v>2029</c:v>
                      </c:pt>
                      <c:pt idx="5">
                        <c:v>2030</c:v>
                      </c:pt>
                      <c:pt idx="6">
                        <c:v>2031</c:v>
                      </c:pt>
                      <c:pt idx="7">
                        <c:v>2032</c:v>
                      </c:pt>
                      <c:pt idx="8">
                        <c:v>2033</c:v>
                      </c:pt>
                      <c:pt idx="9">
                        <c:v>2034</c:v>
                      </c:pt>
                      <c:pt idx="10">
                        <c:v>2035</c:v>
                      </c:pt>
                      <c:pt idx="11">
                        <c:v>2036</c:v>
                      </c:pt>
                      <c:pt idx="12">
                        <c:v>2037</c:v>
                      </c:pt>
                      <c:pt idx="13">
                        <c:v>2038</c:v>
                      </c:pt>
                      <c:pt idx="14">
                        <c:v>2039</c:v>
                      </c:pt>
                      <c:pt idx="15">
                        <c:v>2040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'Year-over-year'!$H$94:$W$94</c15:sqref>
                        </c15:formulaRef>
                      </c:ext>
                    </c:extLst>
                    <c:numCache>
                      <c:formatCode>General</c:formatCode>
                      <c:ptCount val="16"/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3-6562-4CEA-9A80-3D0D09499277}"/>
                  </c:ext>
                </c:extLst>
              </c15:ser>
            </c15:filteredLineSeries>
            <c15:filteredLine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'Year-over-year'!$F$96</c15:sqref>
                        </c15:formulaRef>
                      </c:ext>
                    </c:extLst>
                    <c:strCache>
                      <c:ptCount val="1"/>
                      <c:pt idx="0">
                        <c:v>Emissions - Complete Electrification</c:v>
                      </c:pt>
                    </c:strCache>
                  </c:strRef>
                </c:tx>
                <c:spPr>
                  <a:ln w="28575" cap="rnd">
                    <a:solidFill>
                      <a:srgbClr val="7030A0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'Year-over-year'!$H$1:$W$1</c15:sqref>
                        </c15:formulaRef>
                      </c:ext>
                    </c:extLst>
                    <c:numCache>
                      <c:formatCode>0</c:formatCode>
                      <c:ptCount val="16"/>
                      <c:pt idx="0">
                        <c:v>2025</c:v>
                      </c:pt>
                      <c:pt idx="1">
                        <c:v>2026</c:v>
                      </c:pt>
                      <c:pt idx="2">
                        <c:v>2027</c:v>
                      </c:pt>
                      <c:pt idx="3">
                        <c:v>2028</c:v>
                      </c:pt>
                      <c:pt idx="4">
                        <c:v>2029</c:v>
                      </c:pt>
                      <c:pt idx="5">
                        <c:v>2030</c:v>
                      </c:pt>
                      <c:pt idx="6">
                        <c:v>2031</c:v>
                      </c:pt>
                      <c:pt idx="7">
                        <c:v>2032</c:v>
                      </c:pt>
                      <c:pt idx="8">
                        <c:v>2033</c:v>
                      </c:pt>
                      <c:pt idx="9">
                        <c:v>2034</c:v>
                      </c:pt>
                      <c:pt idx="10">
                        <c:v>2035</c:v>
                      </c:pt>
                      <c:pt idx="11">
                        <c:v>2036</c:v>
                      </c:pt>
                      <c:pt idx="12">
                        <c:v>2037</c:v>
                      </c:pt>
                      <c:pt idx="13">
                        <c:v>2038</c:v>
                      </c:pt>
                      <c:pt idx="14">
                        <c:v>2039</c:v>
                      </c:pt>
                      <c:pt idx="15">
                        <c:v>2040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'Year-over-year'!$H$96:$W$96</c15:sqref>
                        </c15:formulaRef>
                      </c:ext>
                    </c:extLst>
                    <c:numCache>
                      <c:formatCode>0</c:formatCode>
                      <c:ptCount val="16"/>
                      <c:pt idx="0">
                        <c:v>309.88952337123419</c:v>
                      </c:pt>
                      <c:pt idx="1">
                        <c:v>292.62973710137999</c:v>
                      </c:pt>
                      <c:pt idx="2">
                        <c:v>287.36390099371317</c:v>
                      </c:pt>
                      <c:pt idx="3">
                        <c:v>276.07123808918328</c:v>
                      </c:pt>
                      <c:pt idx="4">
                        <c:v>266.09414124379418</c:v>
                      </c:pt>
                      <c:pt idx="5">
                        <c:v>235.29433274594177</c:v>
                      </c:pt>
                      <c:pt idx="6">
                        <c:v>219.5593244458766</c:v>
                      </c:pt>
                      <c:pt idx="7">
                        <c:v>185.98417105828503</c:v>
                      </c:pt>
                      <c:pt idx="8">
                        <c:v>156.81026158115526</c:v>
                      </c:pt>
                      <c:pt idx="9">
                        <c:v>138.82531502984838</c:v>
                      </c:pt>
                      <c:pt idx="10">
                        <c:v>116.55485963342161</c:v>
                      </c:pt>
                      <c:pt idx="11">
                        <c:v>105.51191021372699</c:v>
                      </c:pt>
                      <c:pt idx="12">
                        <c:v>97.208806378719459</c:v>
                      </c:pt>
                      <c:pt idx="13">
                        <c:v>83.417768558028342</c:v>
                      </c:pt>
                      <c:pt idx="14">
                        <c:v>63.279881729941245</c:v>
                      </c:pt>
                      <c:pt idx="15">
                        <c:v>0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6562-4CEA-9A80-3D0D09499277}"/>
                  </c:ext>
                </c:extLst>
              </c15:ser>
            </c15:filteredLineSeries>
            <c15:filteredLine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'Year-over-year'!$F$97</c15:sqref>
                        </c15:formulaRef>
                      </c:ext>
                    </c:extLst>
                    <c:strCache>
                      <c:ptCount val="1"/>
                      <c:pt idx="0">
                        <c:v>Emissions - Best Fit</c:v>
                      </c:pt>
                    </c:strCache>
                  </c:strRef>
                </c:tx>
                <c:spPr>
                  <a:ln w="28575" cap="rnd">
                    <a:solidFill>
                      <a:srgbClr val="00B0F0"/>
                    </a:solidFill>
                    <a:round/>
                  </a:ln>
                  <a:effectLst/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'Year-over-year'!$H$1:$W$1</c15:sqref>
                        </c15:formulaRef>
                      </c:ext>
                    </c:extLst>
                    <c:numCache>
                      <c:formatCode>0</c:formatCode>
                      <c:ptCount val="16"/>
                      <c:pt idx="0">
                        <c:v>2025</c:v>
                      </c:pt>
                      <c:pt idx="1">
                        <c:v>2026</c:v>
                      </c:pt>
                      <c:pt idx="2">
                        <c:v>2027</c:v>
                      </c:pt>
                      <c:pt idx="3">
                        <c:v>2028</c:v>
                      </c:pt>
                      <c:pt idx="4">
                        <c:v>2029</c:v>
                      </c:pt>
                      <c:pt idx="5">
                        <c:v>2030</c:v>
                      </c:pt>
                      <c:pt idx="6">
                        <c:v>2031</c:v>
                      </c:pt>
                      <c:pt idx="7">
                        <c:v>2032</c:v>
                      </c:pt>
                      <c:pt idx="8">
                        <c:v>2033</c:v>
                      </c:pt>
                      <c:pt idx="9">
                        <c:v>2034</c:v>
                      </c:pt>
                      <c:pt idx="10">
                        <c:v>2035</c:v>
                      </c:pt>
                      <c:pt idx="11">
                        <c:v>2036</c:v>
                      </c:pt>
                      <c:pt idx="12">
                        <c:v>2037</c:v>
                      </c:pt>
                      <c:pt idx="13">
                        <c:v>2038</c:v>
                      </c:pt>
                      <c:pt idx="14">
                        <c:v>2039</c:v>
                      </c:pt>
                      <c:pt idx="15">
                        <c:v>2040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'Year-over-year'!$H$97:$W$97</c15:sqref>
                        </c15:formulaRef>
                      </c:ext>
                    </c:extLst>
                    <c:numCache>
                      <c:formatCode>0</c:formatCode>
                      <c:ptCount val="16"/>
                      <c:pt idx="0">
                        <c:v>312.9858739982036</c:v>
                      </c:pt>
                      <c:pt idx="1">
                        <c:v>303.41280983082277</c:v>
                      </c:pt>
                      <c:pt idx="2">
                        <c:v>303.41280983082277</c:v>
                      </c:pt>
                      <c:pt idx="3">
                        <c:v>297.98358303651526</c:v>
                      </c:pt>
                      <c:pt idx="4">
                        <c:v>290.75740178103985</c:v>
                      </c:pt>
                      <c:pt idx="5">
                        <c:v>278.76086328491385</c:v>
                      </c:pt>
                      <c:pt idx="6">
                        <c:v>278.68789711908266</c:v>
                      </c:pt>
                      <c:pt idx="7">
                        <c:v>266.83743744802035</c:v>
                      </c:pt>
                      <c:pt idx="8">
                        <c:v>251.75300687698933</c:v>
                      </c:pt>
                      <c:pt idx="9">
                        <c:v>243.75375750816059</c:v>
                      </c:pt>
                      <c:pt idx="10">
                        <c:v>224.54758690262446</c:v>
                      </c:pt>
                      <c:pt idx="11">
                        <c:v>216.69724155482032</c:v>
                      </c:pt>
                      <c:pt idx="12">
                        <c:v>209.61394372400861</c:v>
                      </c:pt>
                      <c:pt idx="13">
                        <c:v>207.07432871615859</c:v>
                      </c:pt>
                      <c:pt idx="14">
                        <c:v>191.21366240089202</c:v>
                      </c:pt>
                      <c:pt idx="15">
                        <c:v>181.78387178550742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6562-4CEA-9A80-3D0D09499277}"/>
                  </c:ext>
                </c:extLst>
              </c15:ser>
            </c15:filteredLineSeries>
          </c:ext>
        </c:extLst>
      </c:lineChart>
      <c:catAx>
        <c:axId val="1669588431"/>
        <c:scaling>
          <c:orientation val="minMax"/>
        </c:scaling>
        <c:delete val="0"/>
        <c:axPos val="b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0218223"/>
        <c:crosses val="autoZero"/>
        <c:auto val="1"/>
        <c:lblAlgn val="ctr"/>
        <c:lblOffset val="100"/>
        <c:noMultiLvlLbl val="0"/>
      </c:catAx>
      <c:valAx>
        <c:axId val="16702182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MT CO2e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95884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4187444909316722"/>
          <c:y val="0.78324205868497199"/>
          <c:w val="0.46006828203333144"/>
          <c:h val="0.211416114758266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100" b="1"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'Charging Summary 1'!$Y$54</c:f>
              <c:strCache>
                <c:ptCount val="1"/>
                <c:pt idx="0">
                  <c:v>Equipment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'Charging Summary 1'!$C$55:$C$56</c:f>
              <c:strCache>
                <c:ptCount val="2"/>
                <c:pt idx="0">
                  <c:v>Public Works</c:v>
                </c:pt>
                <c:pt idx="1">
                  <c:v>City Hall</c:v>
                </c:pt>
              </c:strCache>
            </c:strRef>
          </c:cat>
          <c:val>
            <c:numRef>
              <c:f>'Charging Summary 1'!$Y$55:$Y$56</c:f>
              <c:numCache>
                <c:formatCode>"$"#,##0_);[Red]\("$"#,##0\)</c:formatCode>
                <c:ptCount val="2"/>
                <c:pt idx="0">
                  <c:v>41800</c:v>
                </c:pt>
                <c:pt idx="1">
                  <c:v>20900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DF-C44B-90A8-7D02C6817555}"/>
            </c:ext>
          </c:extLst>
        </c:ser>
        <c:ser>
          <c:idx val="1"/>
          <c:order val="1"/>
          <c:tx>
            <c:strRef>
              <c:f>'Charging Summary 1'!$Z$54</c:f>
              <c:strCache>
                <c:ptCount val="1"/>
                <c:pt idx="0">
                  <c:v>Installation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'Charging Summary 1'!$C$55:$C$56</c:f>
              <c:strCache>
                <c:ptCount val="2"/>
                <c:pt idx="0">
                  <c:v>Public Works</c:v>
                </c:pt>
                <c:pt idx="1">
                  <c:v>City Hall</c:v>
                </c:pt>
              </c:strCache>
            </c:strRef>
          </c:cat>
          <c:val>
            <c:numRef>
              <c:f>'Charging Summary 1'!$Z$55:$Z$56</c:f>
              <c:numCache>
                <c:formatCode>"$"#,##0_);[Red]\("$"#,##0\)</c:formatCode>
                <c:ptCount val="2"/>
                <c:pt idx="0">
                  <c:v>42800</c:v>
                </c:pt>
                <c:pt idx="1">
                  <c:v>21400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DF-C44B-90A8-7D02C6817555}"/>
            </c:ext>
          </c:extLst>
        </c:ser>
        <c:ser>
          <c:idx val="2"/>
          <c:order val="2"/>
          <c:tx>
            <c:strRef>
              <c:f>'Charging Summary 1'!$AA$54</c:f>
              <c:strCache>
                <c:ptCount val="1"/>
                <c:pt idx="0">
                  <c:v>Contingency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'Charging Summary 1'!$C$55:$C$56</c:f>
              <c:strCache>
                <c:ptCount val="2"/>
                <c:pt idx="0">
                  <c:v>Public Works</c:v>
                </c:pt>
                <c:pt idx="1">
                  <c:v>City Hall</c:v>
                </c:pt>
              </c:strCache>
            </c:strRef>
          </c:cat>
          <c:val>
            <c:numRef>
              <c:f>'Charging Summary 1'!$AA$55:$AA$56</c:f>
              <c:numCache>
                <c:formatCode>"$"#,##0_);[Red]\("$"#,##0\)</c:formatCode>
                <c:ptCount val="2"/>
                <c:pt idx="0">
                  <c:v>14400</c:v>
                </c:pt>
                <c:pt idx="1">
                  <c:v>7200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CDF-C44B-90A8-7D02C6817555}"/>
            </c:ext>
          </c:extLst>
        </c:ser>
        <c:ser>
          <c:idx val="4"/>
          <c:order val="4"/>
          <c:tx>
            <c:strRef>
              <c:f>'Charging Summary 1'!$AC$54</c:f>
              <c:strCache>
                <c:ptCount val="1"/>
                <c:pt idx="0">
                  <c:v>Mobilization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'Charging Summary 1'!$C$55:$C$56</c:f>
              <c:strCache>
                <c:ptCount val="2"/>
                <c:pt idx="0">
                  <c:v>Public Works</c:v>
                </c:pt>
                <c:pt idx="1">
                  <c:v>City Hall</c:v>
                </c:pt>
              </c:strCache>
            </c:strRef>
          </c:cat>
          <c:val>
            <c:numRef>
              <c:f>'Charging Summary 1'!$AC$55:$AC$56</c:f>
              <c:numCache>
                <c:formatCode>"$"#,##0_);[Red]\("$"#,##0\)</c:formatCode>
                <c:ptCount val="2"/>
                <c:pt idx="0">
                  <c:v>12000</c:v>
                </c:pt>
                <c:pt idx="1">
                  <c:v>6000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CDF-C44B-90A8-7D02C6817555}"/>
            </c:ext>
          </c:extLst>
        </c:ser>
        <c:ser>
          <c:idx val="5"/>
          <c:order val="5"/>
          <c:tx>
            <c:strRef>
              <c:f>'Charging Summary 1'!$AD$54</c:f>
              <c:strCache>
                <c:ptCount val="1"/>
                <c:pt idx="0">
                  <c:v>Service Upgrades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'Charging Summary 1'!$C$55:$C$56</c:f>
              <c:strCache>
                <c:ptCount val="2"/>
                <c:pt idx="0">
                  <c:v>Public Works</c:v>
                </c:pt>
                <c:pt idx="1">
                  <c:v>City Hall</c:v>
                </c:pt>
              </c:strCache>
            </c:strRef>
          </c:cat>
          <c:val>
            <c:numRef>
              <c:f>'Charging Summary 1'!$AD$55:$AD$56</c:f>
              <c:numCache>
                <c:formatCode>"$"#,##0_);[Red]\("$"#,##0\)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CDF-C44B-90A8-7D02C681755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11955552"/>
        <c:axId val="711947632"/>
        <c:extLst>
          <c:ext xmlns:c15="http://schemas.microsoft.com/office/drawing/2012/chart" uri="{02D57815-91ED-43cb-92C2-25804820EDAC}">
            <c15:filteredBar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'Charging Summary 1'!$AB$54</c15:sqref>
                        </c15:formulaRef>
                      </c:ext>
                    </c:extLst>
                    <c:strCache>
                      <c:ptCount val="1"/>
                      <c:pt idx="0">
                        <c:v>Trenching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'Charging Summary 1'!$C$55:$C$56</c15:sqref>
                        </c15:formulaRef>
                      </c:ext>
                    </c:extLst>
                    <c:strCache>
                      <c:ptCount val="2"/>
                      <c:pt idx="0">
                        <c:v>Public Works</c:v>
                      </c:pt>
                      <c:pt idx="1">
                        <c:v>City Hall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'Charging Summary 1'!$AB$55:$AB$56</c15:sqref>
                        </c15:formulaRef>
                      </c:ext>
                    </c:extLst>
                    <c:numCache>
                      <c:formatCode>"$"#,##0_);[Red]\("$"#,##0\)</c:formatCode>
                      <c:ptCount val="2"/>
                      <c:pt idx="0">
                        <c:v>0</c:v>
                      </c:pt>
                      <c:pt idx="1">
                        <c:v>0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8-ACDF-C44B-90A8-7D02C6817555}"/>
                  </c:ext>
                </c:extLst>
              </c15:ser>
            </c15:filteredBarSeries>
          </c:ext>
        </c:extLst>
      </c:barChart>
      <c:barChart>
        <c:barDir val="col"/>
        <c:grouping val="stacked"/>
        <c:varyColors val="0"/>
        <c:ser>
          <c:idx val="6"/>
          <c:order val="6"/>
          <c:tx>
            <c:strRef>
              <c:f>'Charging Summary 1'!$AE$54</c:f>
              <c:strCache>
                <c:ptCount val="1"/>
                <c:pt idx="0">
                  <c:v>Total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6.2440335473403835E-3"/>
                  <c:y val="-0.41057558013875828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CDF-C44B-90A8-7D02C6817555}"/>
                </c:ext>
              </c:extLst>
            </c:dLbl>
            <c:dLbl>
              <c:idx val="1"/>
              <c:layout>
                <c:manualLayout>
                  <c:x val="0"/>
                  <c:y val="-0.2284654437868897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CDF-C44B-90A8-7D02C681755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'Charging Summary 1'!$C$55:$C$56</c:f>
              <c:strCache>
                <c:ptCount val="2"/>
                <c:pt idx="0">
                  <c:v>Public Works</c:v>
                </c:pt>
                <c:pt idx="1">
                  <c:v>City Hall</c:v>
                </c:pt>
              </c:strCache>
            </c:strRef>
          </c:cat>
          <c:val>
            <c:numRef>
              <c:f>'Charging Summary 1'!$AE$55:$AE$56</c:f>
              <c:numCache>
                <c:formatCode>"$"#,##0_);[Red]\("$"#,##0\)</c:formatCode>
                <c:ptCount val="2"/>
                <c:pt idx="0">
                  <c:v>111000</c:v>
                </c:pt>
                <c:pt idx="1">
                  <c:v>55500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ACDF-C44B-90A8-7D02C681755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11960232"/>
        <c:axId val="711967792"/>
      </c:barChart>
      <c:catAx>
        <c:axId val="711955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1947632"/>
        <c:crosses val="autoZero"/>
        <c:auto val="1"/>
        <c:lblAlgn val="ctr"/>
        <c:lblOffset val="100"/>
        <c:noMultiLvlLbl val="0"/>
      </c:catAx>
      <c:valAx>
        <c:axId val="7119476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_);[Red]\(&quot;$&quot;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11955552"/>
        <c:crosses val="autoZero"/>
        <c:crossBetween val="between"/>
      </c:valAx>
      <c:valAx>
        <c:axId val="711967792"/>
        <c:scaling>
          <c:orientation val="minMax"/>
        </c:scaling>
        <c:delete val="1"/>
        <c:axPos val="r"/>
        <c:numFmt formatCode="&quot;$&quot;#,##0_);[Red]\(&quot;$&quot;#,##0\)" sourceLinked="1"/>
        <c:majorTickMark val="out"/>
        <c:minorTickMark val="none"/>
        <c:tickLblPos val="nextTo"/>
        <c:crossAx val="711960232"/>
        <c:crosses val="max"/>
        <c:crossBetween val="between"/>
      </c:valAx>
      <c:catAx>
        <c:axId val="71196023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71196779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egendEntry>
        <c:idx val="4"/>
        <c:delete val="1"/>
      </c:legendEntry>
      <c:legendEntry>
        <c:idx val="5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6225267952280471E-2"/>
          <c:y val="3.361001650668026E-2"/>
          <c:w val="0.77897600113335952"/>
          <c:h val="0.9045757018105861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'Year-over-year'!$N$233</c:f>
              <c:strCache>
                <c:ptCount val="1"/>
                <c:pt idx="0">
                  <c:v>EV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'Year-over-year'!$M$234:$M$244</c:f>
              <c:numCache>
                <c:formatCode>0</c:formatCode>
                <c:ptCount val="11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  <c:pt idx="6">
                  <c:v>2031</c:v>
                </c:pt>
                <c:pt idx="7">
                  <c:v>2032</c:v>
                </c:pt>
                <c:pt idx="8">
                  <c:v>2033</c:v>
                </c:pt>
                <c:pt idx="9">
                  <c:v>2034</c:v>
                </c:pt>
                <c:pt idx="10">
                  <c:v>2035</c:v>
                </c:pt>
              </c:numCache>
            </c:numRef>
          </c:cat>
          <c:val>
            <c:numRef>
              <c:f>'Year-over-year'!$N$234:$N$244</c:f>
              <c:numCache>
                <c:formatCode>_("$"* #,##0_);_("$"* \(#,##0\);_("$"* "-"??_);_(@_)</c:formatCode>
                <c:ptCount val="11"/>
                <c:pt idx="0">
                  <c:v>38500</c:v>
                </c:pt>
                <c:pt idx="1">
                  <c:v>38500</c:v>
                </c:pt>
                <c:pt idx="2">
                  <c:v>275000</c:v>
                </c:pt>
                <c:pt idx="3">
                  <c:v>74800</c:v>
                </c:pt>
                <c:pt idx="4">
                  <c:v>38500</c:v>
                </c:pt>
                <c:pt idx="5">
                  <c:v>74800</c:v>
                </c:pt>
                <c:pt idx="6">
                  <c:v>0</c:v>
                </c:pt>
                <c:pt idx="7">
                  <c:v>275000</c:v>
                </c:pt>
                <c:pt idx="8">
                  <c:v>60500</c:v>
                </c:pt>
                <c:pt idx="9">
                  <c:v>0</c:v>
                </c:pt>
                <c:pt idx="10">
                  <c:v>673200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957-6D41-8AD5-2428D5EC94CF}"/>
            </c:ext>
          </c:extLst>
        </c:ser>
        <c:ser>
          <c:idx val="1"/>
          <c:order val="1"/>
          <c:tx>
            <c:strRef>
              <c:f>'Year-over-year'!$O$233</c:f>
              <c:strCache>
                <c:ptCount val="1"/>
                <c:pt idx="0">
                  <c:v>ICE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'Year-over-year'!$M$234:$M$244</c:f>
              <c:numCache>
                <c:formatCode>0</c:formatCode>
                <c:ptCount val="11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  <c:pt idx="5">
                  <c:v>2030</c:v>
                </c:pt>
                <c:pt idx="6">
                  <c:v>2031</c:v>
                </c:pt>
                <c:pt idx="7">
                  <c:v>2032</c:v>
                </c:pt>
                <c:pt idx="8">
                  <c:v>2033</c:v>
                </c:pt>
                <c:pt idx="9">
                  <c:v>2034</c:v>
                </c:pt>
                <c:pt idx="10">
                  <c:v>2035</c:v>
                </c:pt>
              </c:numCache>
            </c:numRef>
          </c:cat>
          <c:val>
            <c:numRef>
              <c:f>'Year-over-year'!$O$234:$O$244</c:f>
              <c:numCache>
                <c:formatCode>_("$"* #,##0_);_("$"* \(#,##0\);_("$"* "-"??_);_(@_)</c:formatCode>
                <c:ptCount val="11"/>
                <c:pt idx="0">
                  <c:v>40000</c:v>
                </c:pt>
                <c:pt idx="1">
                  <c:v>40000</c:v>
                </c:pt>
                <c:pt idx="2">
                  <c:v>100000</c:v>
                </c:pt>
                <c:pt idx="3">
                  <c:v>38700</c:v>
                </c:pt>
                <c:pt idx="4">
                  <c:v>30000</c:v>
                </c:pt>
                <c:pt idx="5">
                  <c:v>100000</c:v>
                </c:pt>
                <c:pt idx="6">
                  <c:v>0</c:v>
                </c:pt>
                <c:pt idx="7">
                  <c:v>60000</c:v>
                </c:pt>
                <c:pt idx="8">
                  <c:v>38700</c:v>
                </c:pt>
                <c:pt idx="9">
                  <c:v>0</c:v>
                </c:pt>
                <c:pt idx="10">
                  <c:v>100000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957-6D41-8AD5-2428D5EC94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54169647"/>
        <c:axId val="625948607"/>
      </c:barChart>
      <c:catAx>
        <c:axId val="654169647"/>
        <c:scaling>
          <c:orientation val="minMax"/>
        </c:scaling>
        <c:delete val="0"/>
        <c:axPos val="b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5948607"/>
        <c:crosses val="autoZero"/>
        <c:auto val="1"/>
        <c:lblAlgn val="ctr"/>
        <c:lblOffset val="100"/>
        <c:noMultiLvlLbl val="0"/>
      </c:catAx>
      <c:valAx>
        <c:axId val="6259486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&quot;$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41696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91676778899132905"/>
          <c:y val="0.41700142355381303"/>
          <c:w val="5.1879244023243259E-2"/>
          <c:h val="0.1674565541817765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5466FA-E103-4F83-AA31-DEA763FB2DC8}" type="datetimeFigureOut">
              <a:rPr lang="en-US" smtClean="0"/>
              <a:t>3/2/26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EC42AB-5DB4-43D3-AEE9-3C4BCDABD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75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EC42AB-5DB4-43D3-AEE9-3C4BCDABD1E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5509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EC42AB-5DB4-43D3-AEE9-3C4BCDABD1E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957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EC42AB-5DB4-43D3-AEE9-3C4BCDABD1E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6383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B4BE3-4E55-F7D3-0ED7-BDB418B5F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568AED-67EF-86D7-04E9-48B16B4565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A1FC76-1A7F-20F7-3E23-18818AC2B7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Heavy truck replacement in 2036 (also a few other LD &amp; MD vehicles)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50DC9-ECAD-51DD-ACD0-D758186FC5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D1674-1A8B-3048-86A1-3ACE7DF78A1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1631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80C5E-2128-B5DF-B31E-B28C55E32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45A683-656B-ACA6-DCB9-EC7380CECB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407DC6-B279-A06A-BEB1-1C0DF24C02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Heavy truck replacement in 2036 (also a few other LD &amp; MD vehicles)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2915A-5A93-57C0-6ADF-9184879668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D1674-1A8B-3048-86A1-3ACE7DF78A1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294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056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318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647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9677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051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047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27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7745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547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185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256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802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2.arb.ca.gov/sites/default/files/barcu/board/books/2022/102722/22-14-1pres.pdf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2.arb.ca.gov/applications/streamlined-zev-purchase-exemption-list" TargetMode="External"/><Relationship Id="rId4" Type="http://schemas.openxmlformats.org/officeDocument/2006/relationships/hyperlink" Target="https://ww2.arb.ca.gov/sites/default/files/barcu/regact/2022/acf22/acffroa1.pdf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JYoung@3CE.or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Natalie.Hanson@OptonyUSA.com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food&#10;&#10;Description automatically generated">
            <a:extLst>
              <a:ext uri="{FF2B5EF4-FFF2-40B4-BE49-F238E27FC236}">
                <a16:creationId xmlns:a16="http://schemas.microsoft.com/office/drawing/2014/main" id="{C70027F6-AD67-48D8-8A31-BC9D91A656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55762"/>
          </a:xfrm>
        </p:spPr>
        <p:txBody>
          <a:bodyPr/>
          <a:lstStyle/>
          <a:p>
            <a:r>
              <a:rPr lang="en-US" b="1" dirty="0"/>
              <a:t>Plan Your Fleet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778125"/>
            <a:ext cx="9144000" cy="1655762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rgbClr val="000000"/>
                </a:solidFill>
                <a:latin typeface="Avenir LT Std" panose="02000503020000020003" pitchFamily="2" charset="0"/>
              </a:rPr>
              <a:t>City of Atascadero Kickoff</a:t>
            </a:r>
          </a:p>
          <a:p>
            <a:r>
              <a:rPr lang="en-US" dirty="0">
                <a:solidFill>
                  <a:srgbClr val="000000"/>
                </a:solidFill>
                <a:latin typeface="Avenir LT Std" panose="02000503020000020003" pitchFamily="2" charset="0"/>
              </a:rPr>
              <a:t>March 5</a:t>
            </a:r>
            <a:r>
              <a:rPr lang="en-US" baseline="30000" dirty="0">
                <a:solidFill>
                  <a:srgbClr val="000000"/>
                </a:solidFill>
                <a:latin typeface="Avenir LT Std" panose="02000503020000020003" pitchFamily="2" charset="0"/>
              </a:rPr>
              <a:t>th</a:t>
            </a:r>
            <a:r>
              <a:rPr lang="en-US" dirty="0">
                <a:solidFill>
                  <a:srgbClr val="000000"/>
                </a:solidFill>
                <a:latin typeface="Avenir LT Std" panose="02000503020000020003" pitchFamily="2" charset="0"/>
              </a:rPr>
              <a:t>, 2026</a:t>
            </a:r>
          </a:p>
          <a:p>
            <a:endParaRPr lang="en-US" dirty="0">
              <a:solidFill>
                <a:srgbClr val="000000"/>
              </a:solidFill>
              <a:latin typeface="Avenir LT Std" panose="02000503020000020003" pitchFamily="2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Avenir LT Std" panose="02000503020000020003" pitchFamily="2" charset="0"/>
              </a:rPr>
              <a:t>Presented by </a:t>
            </a:r>
          </a:p>
          <a:p>
            <a:r>
              <a:rPr lang="en-US" dirty="0"/>
              <a:t>Jackson Flynn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food, game&#10;&#10;Description automatically generated">
            <a:extLst>
              <a:ext uri="{FF2B5EF4-FFF2-40B4-BE49-F238E27FC236}">
                <a16:creationId xmlns:a16="http://schemas.microsoft.com/office/drawing/2014/main" id="{14FA7B9C-29B1-4765-B6A0-A43C26EF14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46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A5C1E2-EC80-4A14-8E69-0232905E9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072" y="365125"/>
            <a:ext cx="9534728" cy="1325563"/>
          </a:xfrm>
        </p:spPr>
        <p:txBody>
          <a:bodyPr/>
          <a:lstStyle/>
          <a:p>
            <a:r>
              <a:rPr lang="en-US" b="1" dirty="0">
                <a:latin typeface="Gotham" panose="02000504050000020004" pitchFamily="2" charset="0"/>
              </a:rPr>
              <a:t>Agenda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D1095DC9-1221-4511-A964-A111A9FB1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3735" y="1825625"/>
            <a:ext cx="9340064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Introductions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Advanced Clean Fleets Overview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Fleet Electrification Timelines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GHG Emissions Reductions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Incentives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Questions &amp; Additional Data Needs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Next Steps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0547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A1E09D8-24DA-4150-80E9-66816BEC36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3090"/>
            <a:ext cx="12192000" cy="685465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9528274-CB67-4D8C-9643-D32E8A688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201887"/>
            <a:ext cx="6339839" cy="1600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dirty="0">
                <a:latin typeface="Gotham" panose="02000504050000020004" pitchFamily="2" charset="0"/>
              </a:rPr>
              <a:t>California Air Resource Board (CARB)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F4135C8-F0D9-9F8B-B049-464E64C87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980" y="1884363"/>
            <a:ext cx="5722620" cy="3811587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800" b="1" dirty="0"/>
              <a:t>Advanced Clean Fleets </a:t>
            </a:r>
            <a:r>
              <a:rPr lang="en-US" sz="2800" dirty="0"/>
              <a:t>and what that means for you: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800" dirty="0"/>
          </a:p>
          <a:p>
            <a:pPr marL="240030" indent="-240030">
              <a:lnSpc>
                <a:spcPct val="10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tx2"/>
                </a:solidFill>
              </a:rPr>
              <a:t>Starting 2024, 50% of medium- and heavy-duty </a:t>
            </a:r>
            <a:r>
              <a:rPr lang="en-US" sz="2000" b="1" dirty="0">
                <a:solidFill>
                  <a:srgbClr val="5C9E3B"/>
                </a:solidFill>
              </a:rPr>
              <a:t>truck, van, and bus </a:t>
            </a:r>
            <a:r>
              <a:rPr lang="en-US" sz="2000" dirty="0">
                <a:solidFill>
                  <a:schemeClr val="tx2"/>
                </a:solidFill>
              </a:rPr>
              <a:t>purchases must be ZEV </a:t>
            </a:r>
          </a:p>
          <a:p>
            <a:pPr marL="240030" indent="-240030">
              <a:lnSpc>
                <a:spcPct val="10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tx2"/>
                </a:solidFill>
              </a:rPr>
              <a:t>Starting 2030, 100% of medium- and heavy-duty </a:t>
            </a:r>
            <a:r>
              <a:rPr lang="en-US" sz="2000" b="1" dirty="0">
                <a:solidFill>
                  <a:srgbClr val="5C9E3B"/>
                </a:solidFill>
              </a:rPr>
              <a:t>truck, van, and bus </a:t>
            </a:r>
            <a:r>
              <a:rPr lang="en-US" sz="2000" dirty="0">
                <a:solidFill>
                  <a:schemeClr val="tx2"/>
                </a:solidFill>
              </a:rPr>
              <a:t>purchases must be ZEV</a:t>
            </a:r>
          </a:p>
          <a:p>
            <a:pPr marL="240030" indent="-240030">
              <a:lnSpc>
                <a:spcPct val="100000"/>
              </a:lnSpc>
            </a:pPr>
            <a:r>
              <a:rPr lang="en-US" sz="2000" dirty="0">
                <a:solidFill>
                  <a:schemeClr val="tx2"/>
                </a:solidFill>
              </a:rPr>
              <a:t>Limited exceptions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endParaRPr lang="en-US" dirty="0"/>
          </a:p>
        </p:txBody>
      </p:sp>
      <p:pic>
        <p:nvPicPr>
          <p:cNvPr id="6" name="Picture 5" descr="A picture containing outdoor, sign, palm, tree&#10;&#10;Description automatically generated">
            <a:extLst>
              <a:ext uri="{FF2B5EF4-FFF2-40B4-BE49-F238E27FC236}">
                <a16:creationId xmlns:a16="http://schemas.microsoft.com/office/drawing/2014/main" id="{D194131D-F1E9-FC29-A48D-7C9DF6D9AC1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72" b="23631"/>
          <a:stretch/>
        </p:blipFill>
        <p:spPr>
          <a:xfrm>
            <a:off x="6096000" y="-3090"/>
            <a:ext cx="6096000" cy="5851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227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>
            <a:extLst>
              <a:ext uri="{FF2B5EF4-FFF2-40B4-BE49-F238E27FC236}">
                <a16:creationId xmlns:a16="http://schemas.microsoft.com/office/drawing/2014/main" id="{F3016DCE-A431-4F45-AE76-606CADFD4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7086" y="5002"/>
            <a:ext cx="12195185" cy="68529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A5C1E2-EC80-4A14-8E69-0232905E9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072" y="365125"/>
            <a:ext cx="9534728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Gotham" panose="02000504050000020004" pitchFamily="2" charset="0"/>
              </a:rPr>
              <a:t>ACF Compliance Electrification Scenarios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20278739-31AD-0CEA-02DE-2DED5914A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072" y="1450455"/>
            <a:ext cx="9534728" cy="1733858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The City may pursue one of two timelines:</a:t>
            </a:r>
          </a:p>
          <a:p>
            <a:pPr lvl="2"/>
            <a:r>
              <a:rPr lang="en-US" sz="1800" b="1" dirty="0"/>
              <a:t>ZEV Purchase Schedule (default)</a:t>
            </a:r>
          </a:p>
          <a:p>
            <a:pPr lvl="3"/>
            <a:r>
              <a:rPr lang="en-US" sz="1600" dirty="0"/>
              <a:t>50% of medium- and heavy-duty vehicle purchases beginning in 2024 must be ZEVs</a:t>
            </a:r>
          </a:p>
          <a:p>
            <a:pPr lvl="3"/>
            <a:r>
              <a:rPr lang="en-US" sz="1600" dirty="0"/>
              <a:t>100% of medium- and heavy-duty vehicle purchases beginning in 2030 must be ZEVs</a:t>
            </a:r>
          </a:p>
          <a:p>
            <a:pPr lvl="2"/>
            <a:r>
              <a:rPr lang="en-US" sz="1800" b="1" dirty="0"/>
              <a:t>ZEV Milestone Option (see table)</a:t>
            </a:r>
          </a:p>
        </p:txBody>
      </p:sp>
      <p:pic>
        <p:nvPicPr>
          <p:cNvPr id="10" name="Picture 9" descr="Table&#10;&#10;Description automatically generated">
            <a:extLst>
              <a:ext uri="{FF2B5EF4-FFF2-40B4-BE49-F238E27FC236}">
                <a16:creationId xmlns:a16="http://schemas.microsoft.com/office/drawing/2014/main" id="{BFFE86C2-5D4E-2B91-6F50-745C96EBC7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5281" y="3050488"/>
            <a:ext cx="5446125" cy="291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441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>
            <a:extLst>
              <a:ext uri="{FF2B5EF4-FFF2-40B4-BE49-F238E27FC236}">
                <a16:creationId xmlns:a16="http://schemas.microsoft.com/office/drawing/2014/main" id="{F3016DCE-A431-4F45-AE76-606CADFD4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93" y="5002"/>
            <a:ext cx="12195185" cy="68529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A5C1E2-EC80-4A14-8E69-0232905E9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072" y="365125"/>
            <a:ext cx="9534728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Gotham" panose="02000504050000020004" pitchFamily="2" charset="0"/>
              </a:rPr>
              <a:t>Advanced Clean Fleets Exemptions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E2F6F24-6987-1447-7EC8-A4DB6315D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072" y="1513747"/>
            <a:ext cx="9791734" cy="2066216"/>
          </a:xfrm>
        </p:spPr>
        <p:txBody>
          <a:bodyPr numCol="2" anchor="t">
            <a:noAutofit/>
          </a:bodyPr>
          <a:lstStyle/>
          <a:p>
            <a:pPr marL="305435" indent="-305435"/>
            <a:r>
              <a:rPr lang="en-US" sz="1400" b="1" dirty="0">
                <a:solidFill>
                  <a:schemeClr val="accent1"/>
                </a:solidFill>
                <a:ea typeface="+mn-lt"/>
                <a:cs typeface="+mn-lt"/>
              </a:rPr>
              <a:t>State and Local Government Agency </a:t>
            </a:r>
            <a:r>
              <a:rPr lang="en-US" sz="1400" dirty="0">
                <a:ea typeface="+mn-lt"/>
                <a:cs typeface="+mn-lt"/>
              </a:rPr>
              <a:t>Exemptions:</a:t>
            </a:r>
          </a:p>
          <a:p>
            <a:pPr marL="1899563" lvl="5" indent="-305435">
              <a:buClr>
                <a:schemeClr val="accent1"/>
              </a:buClr>
            </a:pPr>
            <a:r>
              <a:rPr lang="en-US" sz="1400" dirty="0">
                <a:ea typeface="+mn-lt"/>
                <a:cs typeface="+mn-lt"/>
              </a:rPr>
              <a:t>ZEV Unavailability</a:t>
            </a:r>
          </a:p>
          <a:p>
            <a:pPr marL="1899563" lvl="5" indent="-305435">
              <a:buClr>
                <a:schemeClr val="accent1"/>
              </a:buClr>
            </a:pPr>
            <a:r>
              <a:rPr lang="en-US" sz="1400" dirty="0">
                <a:ea typeface="+mn-lt"/>
                <a:cs typeface="+mn-lt"/>
              </a:rPr>
              <a:t>Daily Usage</a:t>
            </a:r>
          </a:p>
          <a:p>
            <a:pPr marL="1899563" lvl="5" indent="-305435">
              <a:buClr>
                <a:schemeClr val="accent1"/>
              </a:buClr>
            </a:pPr>
            <a:r>
              <a:rPr lang="en-US" sz="1400" dirty="0">
                <a:ea typeface="+mn-lt"/>
                <a:cs typeface="+mn-lt"/>
              </a:rPr>
              <a:t>Infrastructure Construction Delay</a:t>
            </a:r>
          </a:p>
          <a:p>
            <a:pPr marL="1899563" lvl="5" indent="-305435">
              <a:buClr>
                <a:schemeClr val="accent1"/>
              </a:buClr>
            </a:pPr>
            <a:r>
              <a:rPr lang="en-US" sz="1400" dirty="0">
                <a:ea typeface="+mn-lt"/>
                <a:cs typeface="+mn-lt"/>
              </a:rPr>
              <a:t>Backup Vehicle &lt;1,000 miles per year</a:t>
            </a:r>
          </a:p>
          <a:p>
            <a:pPr marL="1899563" lvl="5" indent="-305435">
              <a:buClr>
                <a:schemeClr val="accent1"/>
              </a:buClr>
            </a:pPr>
            <a:r>
              <a:rPr lang="en-US" sz="1400" dirty="0">
                <a:ea typeface="+mn-lt"/>
                <a:cs typeface="+mn-lt"/>
              </a:rPr>
              <a:t>Mutual Aid Vehicle</a:t>
            </a:r>
          </a:p>
          <a:p>
            <a:pPr marL="305435" indent="-305435"/>
            <a:endParaRPr lang="en-US" sz="1400" dirty="0"/>
          </a:p>
          <a:p>
            <a:pPr marL="305435" indent="-305435"/>
            <a:endParaRPr lang="en-US" sz="1400" dirty="0"/>
          </a:p>
          <a:p>
            <a:pPr marL="305435" indent="-305435">
              <a:buClr>
                <a:srgbClr val="30A2DE"/>
              </a:buClr>
            </a:pPr>
            <a:r>
              <a:rPr lang="en-US" sz="1400" dirty="0">
                <a:ea typeface="+mn-lt"/>
                <a:cs typeface="+mn-lt"/>
              </a:rPr>
              <a:t>Streamlined ZEV Purchase Exemption List: </a:t>
            </a:r>
            <a:r>
              <a:rPr lang="en-US" sz="1400" dirty="0"/>
              <a:t>Bucket truck (Class 5), water truck (Class 5-8), vacuum truck (Class 8) (Expiration Date TBD)</a:t>
            </a:r>
          </a:p>
          <a:p>
            <a:pPr marL="762635" lvl="1" indent="-305435">
              <a:buClr>
                <a:srgbClr val="30A2DE"/>
              </a:buClr>
            </a:pPr>
            <a:r>
              <a:rPr lang="en-US" sz="1200" dirty="0">
                <a:ea typeface="+mn-lt"/>
                <a:cs typeface="+mn-lt"/>
              </a:rPr>
              <a:t>Other Potential Configurations: Bucket truck, boom truck, dump truck, flatbed truck, stake bed truck</a:t>
            </a:r>
            <a:r>
              <a:rPr lang="en-US" sz="1200" b="1" dirty="0">
                <a:ea typeface="+mn-lt"/>
                <a:cs typeface="+mn-lt"/>
              </a:rPr>
              <a:t>, </a:t>
            </a:r>
            <a:r>
              <a:rPr lang="en-US" sz="1200" dirty="0">
                <a:ea typeface="+mn-lt"/>
                <a:cs typeface="+mn-lt"/>
              </a:rPr>
              <a:t>front-loader refuse compactor truck, </a:t>
            </a:r>
            <a:r>
              <a:rPr lang="en-US" sz="1200" dirty="0" err="1">
                <a:ea typeface="+mn-lt"/>
                <a:cs typeface="+mn-lt"/>
              </a:rPr>
              <a:t>sideloader</a:t>
            </a:r>
            <a:r>
              <a:rPr lang="en-US" sz="1200" dirty="0">
                <a:ea typeface="+mn-lt"/>
                <a:cs typeface="+mn-lt"/>
              </a:rPr>
              <a:t> refuse compactor truck, rear-loader refuse compactor truck, refuse roll-off truck</a:t>
            </a:r>
            <a:r>
              <a:rPr lang="en-US" sz="1200" b="1" dirty="0">
                <a:ea typeface="+mn-lt"/>
                <a:cs typeface="+mn-lt"/>
              </a:rPr>
              <a:t>, </a:t>
            </a:r>
            <a:r>
              <a:rPr lang="en-US" sz="1200" dirty="0">
                <a:ea typeface="+mn-lt"/>
                <a:cs typeface="+mn-lt"/>
              </a:rPr>
              <a:t>service body truck</a:t>
            </a:r>
            <a:r>
              <a:rPr lang="en-US" sz="1200" b="1" dirty="0">
                <a:ea typeface="+mn-lt"/>
                <a:cs typeface="+mn-lt"/>
              </a:rPr>
              <a:t>, </a:t>
            </a:r>
            <a:r>
              <a:rPr lang="en-US" sz="1200" dirty="0">
                <a:ea typeface="+mn-lt"/>
                <a:cs typeface="+mn-lt"/>
              </a:rPr>
              <a:t>street sweeper, tank truck, tow truck, water truck</a:t>
            </a:r>
            <a:r>
              <a:rPr lang="en-US" sz="1200" b="1" dirty="0">
                <a:ea typeface="+mn-lt"/>
                <a:cs typeface="+mn-lt"/>
              </a:rPr>
              <a:t>, </a:t>
            </a:r>
            <a:r>
              <a:rPr lang="en-US" sz="1200" dirty="0">
                <a:ea typeface="+mn-lt"/>
                <a:cs typeface="+mn-lt"/>
              </a:rPr>
              <a:t>car carrier truck, concrete mixer truck, concrete pump truck, crane, drill rig, vacuum truck (Expiration Date TBD)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63D32A-3BE4-3284-8A17-96BB6F5404D6}"/>
              </a:ext>
            </a:extLst>
          </p:cNvPr>
          <p:cNvSpPr txBox="1"/>
          <p:nvPr/>
        </p:nvSpPr>
        <p:spPr>
          <a:xfrm>
            <a:off x="1734940" y="6223814"/>
            <a:ext cx="7990906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 dirty="0">
                <a:solidFill>
                  <a:schemeClr val="tx2">
                    <a:lumMod val="40000"/>
                    <a:lumOff val="6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https://ww2.arb.ca.gov/sites/default/files/barcu/board/books/2022/102722/22-14-1pres.pdf</a:t>
            </a:r>
            <a:endParaRPr lang="en-US" sz="9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r>
              <a:rPr lang="en-US" sz="900" dirty="0">
                <a:solidFill>
                  <a:schemeClr val="tx2">
                    <a:lumMod val="40000"/>
                    <a:lumOff val="60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https://ww2.arb.ca.gov/sites/default/files/barcu/regact/2022/acf22/acffroa1.pdf</a:t>
            </a:r>
            <a:endParaRPr lang="en-US" sz="9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r>
              <a:rPr lang="en-US" sz="900" dirty="0">
                <a:solidFill>
                  <a:schemeClr val="tx2">
                    <a:lumMod val="40000"/>
                    <a:lumOff val="6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https://ww2.arb.ca.gov/applications/streamlined-zev-purchase-exemption-list</a:t>
            </a:r>
            <a:endParaRPr lang="en-US" sz="9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r>
              <a:rPr lang="en-US" sz="9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*Authorized emergency vehicles as defined in California Vehicle Code Section 165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48841E2-DA65-B0AF-BAB4-6269233D86CB}"/>
              </a:ext>
            </a:extLst>
          </p:cNvPr>
          <p:cNvSpPr txBox="1">
            <a:spLocks/>
          </p:cNvSpPr>
          <p:nvPr/>
        </p:nvSpPr>
        <p:spPr>
          <a:xfrm>
            <a:off x="1819072" y="3361728"/>
            <a:ext cx="9791732" cy="2825650"/>
          </a:xfrm>
          <a:prstGeom prst="rect">
            <a:avLst/>
          </a:prstGeom>
        </p:spPr>
        <p:txBody>
          <a:bodyPr vert="horz" lIns="91440" tIns="45720" rIns="91440" bIns="45720" numCol="2" rtlCol="0" anchor="t">
            <a:noAutofit/>
          </a:bodyPr>
          <a:lstStyle>
            <a:lvl1pPr marL="306024" indent="-306024" algn="l" defTabSz="457237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50" indent="-306024" algn="l" defTabSz="457237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72" indent="-270022" algn="l" defTabSz="457237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99" indent="-234019" algn="l" defTabSz="457237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128" indent="-234019" algn="l" defTabSz="457237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152" indent="-228618" algn="l" defTabSz="457237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176" indent="-228618" algn="l" defTabSz="457237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200" indent="-228618" algn="l" defTabSz="457237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224" indent="-228618" algn="l" defTabSz="457237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accent1"/>
                </a:solidFill>
                <a:ea typeface="+mn-lt"/>
                <a:cs typeface="+mn-lt"/>
              </a:rPr>
              <a:t>Excluded</a:t>
            </a:r>
            <a:r>
              <a:rPr lang="en-US" sz="1400" dirty="0">
                <a:ea typeface="+mn-lt"/>
                <a:cs typeface="+mn-lt"/>
              </a:rPr>
              <a:t> from Fleet Requirements:</a:t>
            </a:r>
          </a:p>
          <a:p>
            <a:pPr marL="1899563" lvl="5" indent="-305435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ea typeface="+mn-lt"/>
                <a:cs typeface="+mn-lt"/>
              </a:rPr>
              <a:t>School buses</a:t>
            </a:r>
          </a:p>
          <a:p>
            <a:pPr marL="1899563" lvl="5" indent="-305435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ea typeface="+mn-lt"/>
                <a:cs typeface="+mn-lt"/>
              </a:rPr>
              <a:t>Transit buses</a:t>
            </a:r>
          </a:p>
          <a:p>
            <a:pPr marL="1899563" lvl="5" indent="-305435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ea typeface="+mn-lt"/>
                <a:cs typeface="+mn-lt"/>
              </a:rPr>
              <a:t>Military tactical vehicles</a:t>
            </a:r>
          </a:p>
          <a:p>
            <a:pPr marL="1899563" lvl="5" indent="-305435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ea typeface="+mn-lt"/>
                <a:cs typeface="+mn-lt"/>
              </a:rPr>
              <a:t>Vehicles awaiting sale</a:t>
            </a:r>
          </a:p>
          <a:p>
            <a:pPr marL="1899563" lvl="5" indent="-305435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b="1" dirty="0">
                <a:ea typeface="+mn-lt"/>
                <a:cs typeface="+mn-lt"/>
              </a:rPr>
              <a:t>Emergency vehicles*</a:t>
            </a:r>
          </a:p>
          <a:p>
            <a:pPr marL="1899563" lvl="5" indent="-305435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ea typeface="+mn-lt"/>
                <a:cs typeface="+mn-lt"/>
              </a:rPr>
              <a:t>Dedicated snow removal vehicles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>
              <a:ea typeface="+mn-lt"/>
              <a:cs typeface="+mn-lt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dirty="0">
              <a:ea typeface="+mn-lt"/>
              <a:cs typeface="+mn-lt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Historical vehicles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Heavy cranes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Two-engine trucks and workover rigs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Vehicles subject to Mobile Cargo Handling Equipment regulation</a:t>
            </a:r>
          </a:p>
        </p:txBody>
      </p:sp>
    </p:spTree>
    <p:extLst>
      <p:ext uri="{BB962C8B-B14F-4D97-AF65-F5344CB8AC3E}">
        <p14:creationId xmlns:p14="http://schemas.microsoft.com/office/powerpoint/2010/main" val="3553324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food, game&#10;&#10;Description automatically generated">
            <a:extLst>
              <a:ext uri="{FF2B5EF4-FFF2-40B4-BE49-F238E27FC236}">
                <a16:creationId xmlns:a16="http://schemas.microsoft.com/office/drawing/2014/main" id="{14FA7B9C-29B1-4765-B6A0-A43C26EF14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46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A5C1E2-EC80-4A14-8E69-0232905E9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072" y="365125"/>
            <a:ext cx="9534728" cy="1325563"/>
          </a:xfrm>
        </p:spPr>
        <p:txBody>
          <a:bodyPr/>
          <a:lstStyle/>
          <a:p>
            <a:r>
              <a:rPr lang="en-US" b="1" dirty="0">
                <a:latin typeface="Gotham" panose="02000504050000020004" pitchFamily="2" charset="0"/>
              </a:rPr>
              <a:t>Key Findings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67DE99-3949-EEC6-AE87-66FA6704E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7144" y="2055812"/>
            <a:ext cx="9850055" cy="3986213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  <a:buClr>
                <a:schemeClr val="tx2"/>
              </a:buClr>
            </a:pPr>
            <a:r>
              <a:rPr lang="en-US" sz="2200" dirty="0"/>
              <a:t>We are studying </a:t>
            </a:r>
            <a:r>
              <a:rPr lang="en-US" sz="2200" b="1" dirty="0">
                <a:solidFill>
                  <a:srgbClr val="30A2DE"/>
                </a:solidFill>
              </a:rPr>
              <a:t>113</a:t>
            </a:r>
            <a:r>
              <a:rPr lang="en-US" sz="2200" dirty="0"/>
              <a:t> vehicles from the City's fleet. </a:t>
            </a:r>
          </a:p>
          <a:p>
            <a:pPr>
              <a:lnSpc>
                <a:spcPct val="110000"/>
              </a:lnSpc>
              <a:spcAft>
                <a:spcPts val="600"/>
              </a:spcAft>
              <a:buClr>
                <a:schemeClr val="tx2"/>
              </a:buClr>
            </a:pPr>
            <a:r>
              <a:rPr lang="en-US" sz="2200" b="1" dirty="0">
                <a:solidFill>
                  <a:srgbClr val="30A2DE"/>
                </a:solidFill>
              </a:rPr>
              <a:t>100%</a:t>
            </a:r>
            <a:r>
              <a:rPr lang="en-US" sz="2200" dirty="0"/>
              <a:t> of the City’s fleet can be replaced with EVs or PHEVs currently on the market, based on preliminary analysis. </a:t>
            </a:r>
          </a:p>
          <a:p>
            <a:pPr>
              <a:lnSpc>
                <a:spcPct val="110000"/>
              </a:lnSpc>
              <a:spcAft>
                <a:spcPts val="600"/>
              </a:spcAft>
              <a:buClr>
                <a:schemeClr val="tx2"/>
              </a:buClr>
            </a:pPr>
            <a:r>
              <a:rPr lang="en-US" sz="2200" dirty="0"/>
              <a:t>The City’s emergency response vehicles are </a:t>
            </a:r>
            <a:r>
              <a:rPr lang="en-US" sz="2200" b="1" dirty="0">
                <a:solidFill>
                  <a:srgbClr val="30A2DE"/>
                </a:solidFill>
                <a:latin typeface="Avenir LT Std 45 Book"/>
              </a:rPr>
              <a:t>exempt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F868D"/>
                </a:solidFill>
                <a:effectLst/>
                <a:uLnTx/>
                <a:uFillTx/>
                <a:latin typeface="Avenir LT Std 45 Book"/>
                <a:ea typeface="+mn-ea"/>
                <a:cs typeface="+mn-cs"/>
              </a:rPr>
              <a:t> 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Avenir LT Std 45 Book"/>
                <a:ea typeface="+mn-ea"/>
                <a:cs typeface="+mn-cs"/>
              </a:rPr>
              <a:t>from California Air Resource Board’s (CARB) Advanced Clean Fleets (ACF).</a:t>
            </a:r>
            <a:endParaRPr lang="en-US" sz="2200" dirty="0"/>
          </a:p>
          <a:p>
            <a:pPr>
              <a:lnSpc>
                <a:spcPct val="110000"/>
              </a:lnSpc>
              <a:spcAft>
                <a:spcPts val="600"/>
              </a:spcAft>
              <a:buClr>
                <a:schemeClr val="tx2"/>
              </a:buClr>
            </a:pPr>
            <a:r>
              <a:rPr lang="en-US" sz="2200" dirty="0"/>
              <a:t>Adhering to the City’s existing replacement schedule, </a:t>
            </a:r>
            <a:r>
              <a:rPr lang="en-US" sz="2200" b="1" dirty="0">
                <a:solidFill>
                  <a:srgbClr val="30A2DE"/>
                </a:solidFill>
              </a:rPr>
              <a:t>100% fleet electrification is achievable by 2040</a:t>
            </a:r>
            <a:r>
              <a:rPr 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7664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>
            <a:extLst>
              <a:ext uri="{FF2B5EF4-FFF2-40B4-BE49-F238E27FC236}">
                <a16:creationId xmlns:a16="http://schemas.microsoft.com/office/drawing/2014/main" id="{F3016DCE-A431-4F45-AE76-606CADFD4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93" y="5002"/>
            <a:ext cx="12195185" cy="68529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A5C1E2-EC80-4A14-8E69-0232905E9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347" y="185064"/>
            <a:ext cx="9534728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Gotham" panose="02000504050000020004" pitchFamily="2" charset="0"/>
              </a:rPr>
              <a:t>ACF Compliance Electrification Scenarios </a:t>
            </a:r>
            <a:br>
              <a:rPr lang="en-US" sz="4000" b="1" dirty="0">
                <a:latin typeface="Gotham" panose="02000504050000020004" pitchFamily="2" charset="0"/>
              </a:rPr>
            </a:br>
            <a:r>
              <a:rPr lang="en-US" sz="2800" dirty="0">
                <a:latin typeface="Gotham" panose="02000504050000020004" pitchFamily="2" charset="0"/>
              </a:rPr>
              <a:t>ZEV Purchase Schedule (default)</a:t>
            </a:r>
            <a:endParaRPr lang="en-US" sz="4000" dirty="0">
              <a:latin typeface="Gotham" panose="02000504050000020004" pitchFamily="2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F894B783-9359-AD41-A088-620B5D9292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1676843"/>
              </p:ext>
            </p:extLst>
          </p:nvPr>
        </p:nvGraphicFramePr>
        <p:xfrm>
          <a:off x="1975884" y="1690689"/>
          <a:ext cx="9241654" cy="4474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080298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food, game&#10;&#10;Description automatically generated">
            <a:extLst>
              <a:ext uri="{FF2B5EF4-FFF2-40B4-BE49-F238E27FC236}">
                <a16:creationId xmlns:a16="http://schemas.microsoft.com/office/drawing/2014/main" id="{14FA7B9C-29B1-4765-B6A0-A43C26EF14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46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A5C1E2-EC80-4A14-8E69-0232905E9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2935" y="51594"/>
            <a:ext cx="9534728" cy="1325563"/>
          </a:xfrm>
        </p:spPr>
        <p:txBody>
          <a:bodyPr/>
          <a:lstStyle/>
          <a:p>
            <a:r>
              <a:rPr lang="en-US" b="1" dirty="0">
                <a:latin typeface="Gotham" panose="02000504050000020004" pitchFamily="2" charset="0"/>
              </a:rPr>
              <a:t>GHG Emissions Reduction Scenarios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2FC9C31-5618-6BDF-33F3-9F8E1499E3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4719595"/>
              </p:ext>
            </p:extLst>
          </p:nvPr>
        </p:nvGraphicFramePr>
        <p:xfrm>
          <a:off x="2059344" y="1584961"/>
          <a:ext cx="904191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88422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>
            <a:extLst>
              <a:ext uri="{FF2B5EF4-FFF2-40B4-BE49-F238E27FC236}">
                <a16:creationId xmlns:a16="http://schemas.microsoft.com/office/drawing/2014/main" id="{F3016DCE-A431-4F45-AE76-606CADFD4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93" y="5002"/>
            <a:ext cx="12195185" cy="68529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A5C1E2-EC80-4A14-8E69-0232905E9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072" y="36724"/>
            <a:ext cx="9534728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Gotham" panose="02000504050000020004" pitchFamily="2" charset="0"/>
              </a:rPr>
              <a:t>Incentives and Other Support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EA31EBF5-2DE6-D647-667C-CD59F3AEC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3839" y="1153632"/>
            <a:ext cx="9786844" cy="4981417"/>
          </a:xfrm>
        </p:spPr>
        <p:txBody>
          <a:bodyPr>
            <a:normAutofit/>
          </a:bodyPr>
          <a:lstStyle/>
          <a:p>
            <a:pPr lvl="1">
              <a:lnSpc>
                <a:spcPct val="134000"/>
              </a:lnSpc>
            </a:pPr>
            <a:r>
              <a:rPr lang="en-US" sz="2000" dirty="0"/>
              <a:t>3CE Charge Your Fleet</a:t>
            </a:r>
          </a:p>
          <a:p>
            <a:pPr lvl="2">
              <a:lnSpc>
                <a:spcPct val="134000"/>
              </a:lnSpc>
            </a:pPr>
            <a:r>
              <a:rPr lang="en-US" sz="1600" b="1" dirty="0"/>
              <a:t>Maximum $150,000 per site</a:t>
            </a:r>
          </a:p>
          <a:p>
            <a:pPr lvl="3">
              <a:lnSpc>
                <a:spcPct val="134000"/>
              </a:lnSpc>
            </a:pPr>
            <a:r>
              <a:rPr lang="en-US" sz="1400" dirty="0"/>
              <a:t>Up to $100,000 per DC Fast installation, not to exceed 75% of cost</a:t>
            </a:r>
          </a:p>
          <a:p>
            <a:pPr lvl="3">
              <a:lnSpc>
                <a:spcPct val="134000"/>
              </a:lnSpc>
            </a:pPr>
            <a:r>
              <a:rPr lang="en-US" sz="1400" dirty="0"/>
              <a:t>Up to $5,000 per Level 2 port installation, not to exceed 75% of project costs</a:t>
            </a:r>
          </a:p>
          <a:p>
            <a:pPr lvl="1">
              <a:lnSpc>
                <a:spcPct val="134000"/>
              </a:lnSpc>
            </a:pPr>
            <a:r>
              <a:rPr lang="en-US" sz="2000" dirty="0"/>
              <a:t>PG&amp;E EV Fleet Program</a:t>
            </a:r>
          </a:p>
          <a:p>
            <a:pPr lvl="2">
              <a:lnSpc>
                <a:spcPct val="134000"/>
              </a:lnSpc>
            </a:pPr>
            <a:r>
              <a:rPr lang="en-US" sz="1600" dirty="0"/>
              <a:t>Incentives and rebates, site design and permitting, construction, and maintenance and upgrades</a:t>
            </a:r>
          </a:p>
          <a:p>
            <a:pPr lvl="2">
              <a:lnSpc>
                <a:spcPct val="134000"/>
              </a:lnSpc>
            </a:pPr>
            <a:r>
              <a:rPr lang="en-US" sz="1600" dirty="0"/>
              <a:t>Provides additional electrical service, some contribution to charging infrastructure; dedicated EV charging meter</a:t>
            </a:r>
          </a:p>
          <a:p>
            <a:pPr lvl="2">
              <a:lnSpc>
                <a:spcPct val="134000"/>
              </a:lnSpc>
            </a:pPr>
            <a:r>
              <a:rPr lang="en-US" sz="1600" dirty="0"/>
              <a:t>Optony can assist with application preparation for EV Fleet</a:t>
            </a:r>
          </a:p>
          <a:p>
            <a:pPr lvl="2">
              <a:lnSpc>
                <a:spcPct val="134000"/>
              </a:lnSpc>
            </a:pPr>
            <a:r>
              <a:rPr lang="en-US" sz="1600" dirty="0"/>
              <a:t>Funding availability is limited as the program is approaching maximum enrollment</a:t>
            </a:r>
          </a:p>
        </p:txBody>
      </p:sp>
    </p:spTree>
    <p:extLst>
      <p:ext uri="{BB962C8B-B14F-4D97-AF65-F5344CB8AC3E}">
        <p14:creationId xmlns:p14="http://schemas.microsoft.com/office/powerpoint/2010/main" val="4212909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>
            <a:extLst>
              <a:ext uri="{FF2B5EF4-FFF2-40B4-BE49-F238E27FC236}">
                <a16:creationId xmlns:a16="http://schemas.microsoft.com/office/drawing/2014/main" id="{F3016DCE-A431-4F45-AE76-606CADFD4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93" y="5002"/>
            <a:ext cx="12195185" cy="68529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A5C1E2-EC80-4A14-8E69-0232905E9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072" y="365125"/>
            <a:ext cx="9534728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Gotham" panose="02000504050000020004" pitchFamily="2" charset="0"/>
              </a:rPr>
              <a:t>Data Needs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20278739-31AD-0CEA-02DE-2DED5914A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5922" y="1474238"/>
            <a:ext cx="9534728" cy="4884998"/>
          </a:xfrm>
        </p:spPr>
        <p:txBody>
          <a:bodyPr>
            <a:normAutofit/>
          </a:bodyPr>
          <a:lstStyle/>
          <a:p>
            <a:r>
              <a:rPr lang="en-US" sz="2000" dirty="0"/>
              <a:t>Fleet Data</a:t>
            </a:r>
          </a:p>
          <a:p>
            <a:pPr lvl="1"/>
            <a:r>
              <a:rPr lang="en-US" sz="1600" dirty="0"/>
              <a:t>Departments</a:t>
            </a:r>
          </a:p>
          <a:p>
            <a:pPr lvl="1"/>
            <a:r>
              <a:rPr lang="en-US" sz="1600" dirty="0"/>
              <a:t>Domicile Facility</a:t>
            </a:r>
          </a:p>
          <a:p>
            <a:pPr lvl="1"/>
            <a:r>
              <a:rPr lang="en-US" sz="1600" dirty="0"/>
              <a:t>Domicile Address</a:t>
            </a:r>
            <a:endParaRPr lang="en-US" sz="1200" dirty="0"/>
          </a:p>
          <a:p>
            <a:r>
              <a:rPr lang="en-US" sz="2000" dirty="0"/>
              <a:t>Any high priority sites of EV chargers?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dirty="0"/>
          </a:p>
          <a:p>
            <a:pPr lvl="1"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7A4518-E4B7-D4EA-CF84-308B41FBE5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7957" y="3372494"/>
            <a:ext cx="3348042" cy="29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82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>
            <a:extLst>
              <a:ext uri="{FF2B5EF4-FFF2-40B4-BE49-F238E27FC236}">
                <a16:creationId xmlns:a16="http://schemas.microsoft.com/office/drawing/2014/main" id="{F3016DCE-A431-4F45-AE76-606CADFD4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93" y="5002"/>
            <a:ext cx="12195185" cy="68529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A5C1E2-EC80-4A14-8E69-0232905E9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072" y="365125"/>
            <a:ext cx="9534728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Gotham" panose="02000504050000020004" pitchFamily="2" charset="0"/>
              </a:rPr>
              <a:t>Next Steps 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20278739-31AD-0CEA-02DE-2DED5914A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5922" y="2242457"/>
            <a:ext cx="9534728" cy="2612572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AutoNum type="arabicPeriod"/>
            </a:pPr>
            <a:r>
              <a:rPr lang="en-US" sz="2000" dirty="0"/>
              <a:t>Update Fleet Replacement Plan Modeling</a:t>
            </a:r>
          </a:p>
          <a:p>
            <a:pPr marL="457200" indent="-457200">
              <a:buAutoNum type="arabicPeriod"/>
            </a:pPr>
            <a:r>
              <a:rPr lang="en-US" sz="2000" dirty="0"/>
              <a:t>Perform Load Analysis</a:t>
            </a:r>
          </a:p>
          <a:p>
            <a:pPr marL="457200" indent="-457200">
              <a:buAutoNum type="arabicPeriod"/>
            </a:pPr>
            <a:r>
              <a:rPr lang="en-US" sz="2000" dirty="0"/>
              <a:t>Present Updated Results</a:t>
            </a:r>
          </a:p>
          <a:p>
            <a:pPr marL="457200" indent="-457200">
              <a:buAutoNum type="arabicPeriod"/>
            </a:pPr>
            <a:r>
              <a:rPr lang="en-US" sz="2000" dirty="0"/>
              <a:t>Select Priority Domicile</a:t>
            </a:r>
          </a:p>
          <a:p>
            <a:pPr marL="457200" indent="-457200">
              <a:buAutoNum type="arabicPeriod"/>
            </a:pPr>
            <a:r>
              <a:rPr lang="en-US" sz="2000" dirty="0"/>
              <a:t>Site Designs for Priority Domicile</a:t>
            </a:r>
          </a:p>
          <a:p>
            <a:pPr marL="457200" indent="-457200">
              <a:buAutoNum type="arabicPeriod"/>
            </a:pPr>
            <a:r>
              <a:rPr lang="en-US" sz="2000" dirty="0"/>
              <a:t>Charging Optimization Modeling</a:t>
            </a:r>
          </a:p>
          <a:p>
            <a:pPr marL="457200" indent="-457200">
              <a:buAutoNum type="arabicPeriod"/>
            </a:pPr>
            <a:r>
              <a:rPr lang="en-US" sz="2000" dirty="0"/>
              <a:t>Research and Recommendations for Project Funding</a:t>
            </a:r>
          </a:p>
          <a:p>
            <a:pPr marL="457200" indent="-457200">
              <a:buAutoNum type="arabicPeriod"/>
            </a:pPr>
            <a:r>
              <a:rPr lang="en-US" sz="2000" dirty="0"/>
              <a:t>Final Presentation</a:t>
            </a:r>
          </a:p>
          <a:p>
            <a:endParaRPr lang="en-US" sz="2000" dirty="0"/>
          </a:p>
          <a:p>
            <a:pPr lvl="1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57708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food&#10;&#10;Description automatically generated">
            <a:extLst>
              <a:ext uri="{FF2B5EF4-FFF2-40B4-BE49-F238E27FC236}">
                <a16:creationId xmlns:a16="http://schemas.microsoft.com/office/drawing/2014/main" id="{C70027F6-AD67-48D8-8A31-BC9D91A65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7"/>
            <a:ext cx="12192000" cy="6854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53509"/>
          </a:xfrm>
        </p:spPr>
        <p:txBody>
          <a:bodyPr>
            <a:normAutofit/>
          </a:bodyPr>
          <a:lstStyle/>
          <a:p>
            <a:r>
              <a:rPr lang="en-US" sz="4800" b="1" dirty="0"/>
              <a:t>Contact us: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9060" y="3074634"/>
            <a:ext cx="5149258" cy="1347913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Avenir LT Std" panose="02000503020000020003" pitchFamily="2" charset="0"/>
              </a:rPr>
              <a:t>Judi Young</a:t>
            </a:r>
          </a:p>
          <a:p>
            <a:r>
              <a:rPr lang="en-US" sz="2000" dirty="0">
                <a:solidFill>
                  <a:srgbClr val="000000"/>
                </a:solidFill>
                <a:latin typeface="Avenir LT Std" panose="02000503020000020003" pitchFamily="2" charset="0"/>
              </a:rPr>
              <a:t>Senior Customer Accounts Manager, 3CE</a:t>
            </a:r>
          </a:p>
          <a:p>
            <a:r>
              <a:rPr lang="en-US" sz="2000" dirty="0">
                <a:solidFill>
                  <a:srgbClr val="000000"/>
                </a:solidFill>
                <a:latin typeface="Avenir LT Std" panose="02000503020000020003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JYoung@3CE.org</a:t>
            </a:r>
            <a:endParaRPr lang="en-US" sz="2000" dirty="0">
              <a:solidFill>
                <a:srgbClr val="000000"/>
              </a:solidFill>
              <a:latin typeface="Avenir LT Std" panose="02000503020000020003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04DA080-E16A-C5C0-DA6E-0F6E02BC1859}"/>
              </a:ext>
            </a:extLst>
          </p:cNvPr>
          <p:cNvSpPr txBox="1">
            <a:spLocks/>
          </p:cNvSpPr>
          <p:nvPr/>
        </p:nvSpPr>
        <p:spPr>
          <a:xfrm>
            <a:off x="1524000" y="3383891"/>
            <a:ext cx="9144000" cy="10535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800" b="1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647BE37-BCBD-EDF2-2C95-0041ECA473F5}"/>
              </a:ext>
            </a:extLst>
          </p:cNvPr>
          <p:cNvSpPr txBox="1">
            <a:spLocks/>
          </p:cNvSpPr>
          <p:nvPr/>
        </p:nvSpPr>
        <p:spPr>
          <a:xfrm>
            <a:off x="1524000" y="4477827"/>
            <a:ext cx="9144000" cy="482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E5AE94-D1AA-8C52-3D25-1EEC02C7BABA}"/>
              </a:ext>
            </a:extLst>
          </p:cNvPr>
          <p:cNvSpPr txBox="1"/>
          <p:nvPr/>
        </p:nvSpPr>
        <p:spPr>
          <a:xfrm>
            <a:off x="6868290" y="3020186"/>
            <a:ext cx="4689682" cy="14568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000000"/>
                </a:solidFill>
                <a:latin typeface="Avenir LT Std" panose="02000503020000020003" pitchFamily="2" charset="0"/>
              </a:rPr>
              <a:t>Natalie Hanson</a:t>
            </a:r>
          </a:p>
          <a:p>
            <a:pPr algn="ctr" defTabSz="914400">
              <a:lnSpc>
                <a:spcPct val="9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000000"/>
                </a:solidFill>
                <a:latin typeface="Avenir LT Std" panose="02000503020000020003" pitchFamily="2" charset="0"/>
              </a:rPr>
              <a:t>Director of Energy Programs, Optony</a:t>
            </a:r>
          </a:p>
          <a:p>
            <a:pPr algn="ctr" defTabSz="914400">
              <a:lnSpc>
                <a:spcPct val="90000"/>
              </a:lnSpc>
              <a:spcBef>
                <a:spcPts val="1000"/>
              </a:spcBef>
            </a:pPr>
            <a:r>
              <a:rPr lang="en-US" sz="2000" dirty="0">
                <a:solidFill>
                  <a:srgbClr val="000000"/>
                </a:solidFill>
                <a:latin typeface="Avenir LT Std" panose="02000503020000020003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Natalie.Hanson@OptonyUSA.com</a:t>
            </a:r>
            <a:endParaRPr lang="en-US" sz="2000" dirty="0">
              <a:solidFill>
                <a:srgbClr val="000000"/>
              </a:solidFill>
              <a:latin typeface="Avenir LT Std" panose="02000503020000020003" pitchFamily="2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017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cture containing food&#10;&#10;Description automatically generated">
            <a:extLst>
              <a:ext uri="{FF2B5EF4-FFF2-40B4-BE49-F238E27FC236}">
                <a16:creationId xmlns:a16="http://schemas.microsoft.com/office/drawing/2014/main" id="{C70027F6-AD67-48D8-8A31-BC9D91A65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7"/>
            <a:ext cx="12192000" cy="68546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902245"/>
            <a:ext cx="9144000" cy="1053509"/>
          </a:xfrm>
        </p:spPr>
        <p:txBody>
          <a:bodyPr>
            <a:normAutofit/>
          </a:bodyPr>
          <a:lstStyle/>
          <a:p>
            <a:r>
              <a:rPr lang="en-US" sz="4800" b="1" dirty="0"/>
              <a:t>Appendix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04DA080-E16A-C5C0-DA6E-0F6E02BC1859}"/>
              </a:ext>
            </a:extLst>
          </p:cNvPr>
          <p:cNvSpPr txBox="1">
            <a:spLocks/>
          </p:cNvSpPr>
          <p:nvPr/>
        </p:nvSpPr>
        <p:spPr>
          <a:xfrm>
            <a:off x="1524000" y="3383891"/>
            <a:ext cx="9144000" cy="10535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800" b="1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647BE37-BCBD-EDF2-2C95-0041ECA473F5}"/>
              </a:ext>
            </a:extLst>
          </p:cNvPr>
          <p:cNvSpPr txBox="1">
            <a:spLocks/>
          </p:cNvSpPr>
          <p:nvPr/>
        </p:nvSpPr>
        <p:spPr>
          <a:xfrm>
            <a:off x="1524000" y="4477827"/>
            <a:ext cx="9144000" cy="482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45060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51E4C42-9DEB-5218-8F1D-6E6C74A9B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>
            <a:extLst>
              <a:ext uri="{FF2B5EF4-FFF2-40B4-BE49-F238E27FC236}">
                <a16:creationId xmlns:a16="http://schemas.microsoft.com/office/drawing/2014/main" id="{C10A1DCA-EDF4-CBA3-D85E-E14014D5F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5185" cy="68529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E172E1-7A87-BCEA-F3B5-1B72CAB84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5922" y="189055"/>
            <a:ext cx="9534728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Gotham" panose="02000504050000020004" pitchFamily="2" charset="0"/>
              </a:rPr>
              <a:t>Total Cost of Charging Infrastructure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BF54987C-00FE-E5E6-896F-8E81E9333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5922" y="1690688"/>
            <a:ext cx="9534728" cy="4315475"/>
          </a:xfrm>
        </p:spPr>
        <p:txBody>
          <a:bodyPr>
            <a:normAutofit/>
          </a:bodyPr>
          <a:lstStyle/>
          <a:p>
            <a:endParaRPr lang="en-US" sz="2000" dirty="0"/>
          </a:p>
          <a:p>
            <a:pPr lvl="1"/>
            <a:endParaRPr lang="en-US" sz="1600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9C41DEF-A919-FE5B-6A1F-D983159D1A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3560608"/>
              </p:ext>
            </p:extLst>
          </p:nvPr>
        </p:nvGraphicFramePr>
        <p:xfrm>
          <a:off x="2489730" y="1514618"/>
          <a:ext cx="7766348" cy="40648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944687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88ADD00-14BA-4C4D-1733-38803B1CB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>
            <a:extLst>
              <a:ext uri="{FF2B5EF4-FFF2-40B4-BE49-F238E27FC236}">
                <a16:creationId xmlns:a16="http://schemas.microsoft.com/office/drawing/2014/main" id="{7E0B2DC9-A1B8-9553-862B-A9D23D0FB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5185" cy="68529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3D22CB-787F-B622-5EF5-467E4BDBC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4548" y="78273"/>
            <a:ext cx="9534728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Gotham" panose="02000504050000020004" pitchFamily="2" charset="0"/>
              </a:rPr>
              <a:t>Annual Marginal EV Total Cost of Ownership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995AE70A-7034-ACF9-C5B5-5369E2533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35922" y="1690688"/>
            <a:ext cx="9534728" cy="4315475"/>
          </a:xfrm>
        </p:spPr>
        <p:txBody>
          <a:bodyPr>
            <a:normAutofit/>
          </a:bodyPr>
          <a:lstStyle/>
          <a:p>
            <a:endParaRPr lang="en-US" sz="2000" dirty="0"/>
          </a:p>
          <a:p>
            <a:pPr lvl="1"/>
            <a:endParaRPr lang="en-US" sz="1600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8E874D9-0455-C6C9-142B-A72FA29777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840431"/>
              </p:ext>
            </p:extLst>
          </p:nvPr>
        </p:nvGraphicFramePr>
        <p:xfrm>
          <a:off x="2111245" y="1770176"/>
          <a:ext cx="8941335" cy="38696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059545664"/>
      </p:ext>
    </p:extLst>
  </p:cSld>
  <p:clrMapOvr>
    <a:masterClrMapping/>
  </p:clrMapOvr>
</p:sld>
</file>

<file path=ppt/theme/theme1.xml><?xml version="1.0" encoding="utf-8"?>
<a:theme xmlns:a="http://schemas.openxmlformats.org/drawingml/2006/main" name="3CE Theme">
  <a:themeElements>
    <a:clrScheme name="CCCE Brand">
      <a:dk1>
        <a:srgbClr val="171616"/>
      </a:dk1>
      <a:lt1>
        <a:srgbClr val="FFFFFF"/>
      </a:lt1>
      <a:dk2>
        <a:srgbClr val="2F3342"/>
      </a:dk2>
      <a:lt2>
        <a:srgbClr val="FFFFFF"/>
      </a:lt2>
      <a:accent1>
        <a:srgbClr val="00A1DE"/>
      </a:accent1>
      <a:accent2>
        <a:srgbClr val="1E9D8B"/>
      </a:accent2>
      <a:accent3>
        <a:srgbClr val="7AB800"/>
      </a:accent3>
      <a:accent4>
        <a:srgbClr val="FDC82F"/>
      </a:accent4>
      <a:accent5>
        <a:srgbClr val="FF6E00"/>
      </a:accent5>
      <a:accent6>
        <a:srgbClr val="A29491"/>
      </a:accent6>
      <a:hlink>
        <a:srgbClr val="00A1DE"/>
      </a:hlink>
      <a:folHlink>
        <a:srgbClr val="FF6E00"/>
      </a:folHlink>
    </a:clrScheme>
    <a:fontScheme name="CCCE">
      <a:majorFont>
        <a:latin typeface="Gotham"/>
        <a:ea typeface=""/>
        <a:cs typeface="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CE Theme" id="{41C04565-0731-4C96-8F65-C53D966ECF4E}" vid="{5237887D-D107-4D2F-AFDD-FAFA227A4E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Calibri"/>
        <a:cs typeface="Calibri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CB64DA8234024386A734749DBA6630" ma:contentTypeVersion="12" ma:contentTypeDescription="Create a new document." ma:contentTypeScope="" ma:versionID="50676a399da8095ab5ba2563818e7def">
  <xsd:schema xmlns:xsd="http://www.w3.org/2001/XMLSchema" xmlns:xs="http://www.w3.org/2001/XMLSchema" xmlns:p="http://schemas.microsoft.com/office/2006/metadata/properties" xmlns:ns2="6b6e6204-3116-407e-970e-d65dbca6bbd4" xmlns:ns3="d00d8c68-4e18-4b57-b608-e28fb2ec0e89" targetNamespace="http://schemas.microsoft.com/office/2006/metadata/properties" ma:root="true" ma:fieldsID="06e23acf2a9d0d46638dbd13e8744056" ns2:_="" ns3:_="">
    <xsd:import namespace="6b6e6204-3116-407e-970e-d65dbca6bbd4"/>
    <xsd:import namespace="d00d8c68-4e18-4b57-b608-e28fb2ec0e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6e6204-3116-407e-970e-d65dbca6bb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0d8c68-4e18-4b57-b608-e28fb2ec0e8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8348CA4-B88C-459B-BA81-2071B16721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6e6204-3116-407e-970e-d65dbca6bbd4"/>
    <ds:schemaRef ds:uri="d00d8c68-4e18-4b57-b608-e28fb2ec0e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EEF6374-CAC9-45B2-AE1D-0F250F5CF0C3}">
  <ds:schemaRefs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d00d8c68-4e18-4b57-b608-e28fb2ec0e89"/>
    <ds:schemaRef ds:uri="6b6e6204-3116-407e-970e-d65dbca6bbd4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CD6BE9CE-5D72-48AA-92E3-23EB6AF8C0A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3CE Theme</Template>
  <TotalTime>15030</TotalTime>
  <Words>724</Words>
  <Application>Microsoft Macintosh PowerPoint</Application>
  <PresentationFormat>Widescreen</PresentationFormat>
  <Paragraphs>105</Paragraphs>
  <Slides>15</Slides>
  <Notes>5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Avenir LT Std</vt:lpstr>
      <vt:lpstr>Avenir LT Std 45 Book</vt:lpstr>
      <vt:lpstr>Calibri</vt:lpstr>
      <vt:lpstr>Gotham</vt:lpstr>
      <vt:lpstr>3CE Theme</vt:lpstr>
      <vt:lpstr>Plan Your Fleet</vt:lpstr>
      <vt:lpstr>Agenda</vt:lpstr>
      <vt:lpstr>California Air Resource Board (CARB)</vt:lpstr>
      <vt:lpstr>ACF Compliance Electrification Scenarios</vt:lpstr>
      <vt:lpstr>Advanced Clean Fleets Exemptions</vt:lpstr>
      <vt:lpstr>Key Findings</vt:lpstr>
      <vt:lpstr>ACF Compliance Electrification Scenarios  ZEV Purchase Schedule (default)</vt:lpstr>
      <vt:lpstr>GHG Emissions Reduction Scenarios</vt:lpstr>
      <vt:lpstr>Incentives and Other Support</vt:lpstr>
      <vt:lpstr>Data Needs</vt:lpstr>
      <vt:lpstr>Next Steps </vt:lpstr>
      <vt:lpstr>Contact us:</vt:lpstr>
      <vt:lpstr>Appendix</vt:lpstr>
      <vt:lpstr>Total Cost of Charging Infrastructure</vt:lpstr>
      <vt:lpstr>Annual Marginal EV Total Cost of Ownership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Optony Inc.</dc:creator>
  <cp:lastModifiedBy>Jackson Flynn</cp:lastModifiedBy>
  <cp:revision>143</cp:revision>
  <dcterms:created xsi:type="dcterms:W3CDTF">2020-08-07T00:09:25Z</dcterms:created>
  <dcterms:modified xsi:type="dcterms:W3CDTF">2026-03-04T00:55:05Z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0x01010089CB64DA8234024386A734749DBA6630</vt:lpwstr>
  </property>
</Properties>
</file>